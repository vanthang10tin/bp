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Xin chào mọi người. Hôm nay mình xin giới thiệu QC mini, một công cụ hỗ trợ kiểm tra chất lượng dữ liệu gán nhãn. Công cụ dùng mô hình AI để tìm các điểm có thể cần xem lại, sau đó đưa ra danh sách để người review xác nhận. Thời lượng demo khoảng ba phút.</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Luồng bắt đầu từ dataset, ảnh, nhãn và guideline. Ngay sau khi nạp input, hệ thống áp dụng rule theo guideline để kiểm tra các trường hợp như box quá nhỏ, box trùng, IoU thấp hoặc box chạm hay cắt biên. Tiếp theo, tùy loại nhãn, hệ thống chạy nhánh BBox với YOLO26x và D-FINE-X, hoặc nhánh segmentation với YOLO26x-Seg và SAM 2.1 Large. Gemini 3.8 Flash hỗ trợ phân tích ảnh và guideline để tạo review candidate. Reviewer xem bằng chứng rồi xác nhận. AI không tự động sửa nhãn.</a:t>
            </a:r>
            <a:endParaRPr/>
          </a:p>
        </p:txBody>
      </p:sp>
      <p:sp>
        <p:nvSpPr>
          <p:cNvPr id="42" name="Google Shape;4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Ở bước chuẩn bị, người dùng nạp dataset và nhãn, ví dụ BDD100K, COCO hoặc YOLO-JSON, rồi ghép ảnh tương ứng. Với segmentation, có thể đưa thêm mask. Người dùng chọn guideline mặc định hoặc tải guideline của dự án. Nếu dữ liệu nằm trên CVAT, QC mini hỗ trợ kết nối để lấy job và frame.</a:t>
            </a:r>
            <a:endParaRPr/>
          </a:p>
        </p:txBody>
      </p:sp>
      <p:sp>
        <p:nvSpPr>
          <p:cNvPr id="76" name="Google Shape;7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Sau khi nạp input, QC mini áp dụng rule theo guideline trước khi chạy model. Rule đánh dấu các trường hợp như box quá nhỏ, box trùng, IoU thấp hoặc vùng chạm hay cắt biên. Sau đó hệ thống chọn nhánh BBox hoặc segmentation theo loại annotation. Khi bật Gemini vision, Gemini phân tích ảnh cùng guideline để làm rõ candidate. Ngưỡng cụ thể phụ thuộc guideline và cấu hình dự án.</a:t>
            </a:r>
            <a:endParaRPr/>
          </a:p>
        </p:txBody>
      </p:sp>
      <p:sp>
        <p:nvSpPr>
          <p:cNvPr id="101" name="Google Shape;10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QC mini giúp reviewer tập trung vào các trường hợp có khả năng sai thay vì rà soát mọi frame theo cùng một cách. Mỗi candidate có thông tin và bằng chứng để hỗ trợ quyết định. Sau review, nhóm có thể xuất báo cáo, issue register dạng CSV và bản nháp guideline từ vấn đề đã xác nhận.</a:t>
            </a:r>
            <a:endParaRPr/>
          </a:p>
        </p:txBody>
      </p:sp>
      <p:sp>
        <p:nvSpPr>
          <p:cNvPr id="123" name="Google Shape;12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QC mini giúp giảm thời gian rà từng frame bằng cách đưa các candidate cần chú ý lên trước. Việc kết hợp rule theo guideline và kết quả model hỗ trợ kiểm tra nhất quán hơn, ví dụ với box quá nhỏ hoặc box trùng. Reviewer vẫn xem ảnh và lý do rồi xác nhận từng trường hợp. Đây là lợi ích dự kiến từ luồng làm việc, không phải số đo benchmark.</a:t>
            </a:r>
            <a:endParaRPr/>
          </a:p>
        </p:txBody>
      </p:sp>
      <p:sp>
        <p:nvSpPr>
          <p:cNvPr id="137" name="Google Shape;13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Màn hình Prepare tập trung các đầu vào: dataset và nhãn, quy chuẩn guideline, cùng tùy chọn kết nối CVAT. Tại đây có thể kiểm tra cấu hình trước khi chạy.</a:t>
            </a:r>
            <a:endParaRPr/>
          </a:p>
        </p:txBody>
      </p:sp>
      <p:sp>
        <p:nvSpPr>
          <p:cNvPr id="158" name="Google Shape;158;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Ở CVAT, người dùng chọn job đã kết nối để mở trang review hoặc đưa dữ liệu vào workspace.</a:t>
            </a:r>
            <a:endParaRPr/>
          </a:p>
        </p:txBody>
      </p:sp>
      <p:sp>
        <p:nvSpPr>
          <p:cNvPr id="169" name="Google Shape;169;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Khi đã sẵn sàng, người dùng chạy QC. Có thể bật Gemini vision và giới hạn số frame gửi phân tích để phù hợp phạm vi demo hoặc nhu cầu kiểm tra.</a:t>
            </a:r>
            <a:endParaRPr/>
          </a:p>
        </p:txBody>
      </p:sp>
      <p:sp>
        <p:nvSpPr>
          <p:cNvPr id="180" name="Google Shape;18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Ở màn hình Review, reviewer xem ảnh cùng các vùng được đánh dấu, đọc lý do cần chú ý rồi chọn giữ lại hoặc loại bỏ candidate.</a:t>
            </a:r>
            <a:endParaRPr/>
          </a:p>
        </p:txBody>
      </p:sp>
      <p:sp>
        <p:nvSpPr>
          <p:cNvPr id="191" name="Google Shape;19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Những issue đã chọn có thể được gửi về CVAT, kèm thông tin frame và vị trí bằng chứng để nhóm annotation tiếp tục xử lý.</a:t>
            </a:r>
            <a:endParaRPr/>
          </a:p>
        </p:txBody>
      </p:sp>
      <p:sp>
        <p:nvSpPr>
          <p:cNvPr id="202" name="Google Shape;202;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Cuối quy trình, người dùng tải báo cáo review, issue register dạng CSV và tạo bản nháp guideline từ các vấn đề đã được xác nhận.</a:t>
            </a:r>
            <a:endParaRPr/>
          </a:p>
        </p:txBody>
      </p:sp>
      <p:sp>
        <p:nvSpPr>
          <p:cNvPr id="213" name="Google Shape;213;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Ở bước này, reviewer có thể mở frame trong CVAT để kiểm tra vị trí box và tiếp tục chỉnh sửa annotation trên công cụ gán nhãn.</a:t>
            </a:r>
            <a:endParaRPr/>
          </a:p>
        </p:txBody>
      </p:sp>
      <p:sp>
        <p:nvSpPr>
          <p:cNvPr id="224" name="Google Shape;224;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Đó là quy trình demo QC mini: chuẩn bị dữ liệu, chạy mô hình, review các điểm cần chú ý và xuất kết quả. Cảm ơn mọi người đã theo dõi. Mình sẵn sàng trả lời câu hỏi.</a:t>
            </a:r>
            <a:endParaRPr/>
          </a:p>
        </p:txBody>
      </p:sp>
      <p:sp>
        <p:nvSpPr>
          <p:cNvPr id="235" name="Google Shape;235;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9pPr>
          </a:lstStyle>
          <a:p/>
        </p:txBody>
      </p:sp>
      <p:sp>
        <p:nvSpPr>
          <p:cNvPr id="13" name="Google Shape;13;p3"/>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200"/>
              <a:buFont typeface="Arial"/>
              <a:buNone/>
              <a:defRPr b="1" i="0" sz="42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18" name="Google Shape;18;p5"/>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1" name="Google Shape;21;p6"/>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
        <p:nvSpPr>
          <p:cNvPr id="22" name="Google Shape;22;p6"/>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5" name="Google Shape;25;p7"/>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6"/>
        </a:solidFill>
      </p:bgPr>
    </p:bg>
    <p:spTree>
      <p:nvGrpSpPr>
        <p:cNvPr id="30" name="Shape 30"/>
        <p:cNvGrpSpPr/>
        <p:nvPr/>
      </p:nvGrpSpPr>
      <p:grpSpPr>
        <a:xfrm>
          <a:off x="0" y="0"/>
          <a:ext cx="0" cy="0"/>
          <a:chOff x="0" y="0"/>
          <a:chExt cx="0" cy="0"/>
        </a:xfrm>
      </p:grpSpPr>
      <p:sp>
        <p:nvSpPr>
          <p:cNvPr id="31" name="Google Shape;31;p8"/>
          <p:cNvSpPr/>
          <p:nvPr/>
        </p:nvSpPr>
        <p:spPr>
          <a:xfrm>
            <a:off x="0" y="0"/>
            <a:ext cx="133350" cy="6858000"/>
          </a:xfrm>
          <a:prstGeom prst="rect">
            <a:avLst/>
          </a:prstGeom>
          <a:solidFill>
            <a:srgbClr val="8B7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 name="Google Shape;32;p8"/>
          <p:cNvSpPr/>
          <p:nvPr/>
        </p:nvSpPr>
        <p:spPr>
          <a:xfrm>
            <a:off x="685800" y="781050"/>
            <a:ext cx="781050" cy="781050"/>
          </a:xfrm>
          <a:prstGeom prst="roundRect">
            <a:avLst>
              <a:gd fmla="val 9756" name="adj"/>
            </a:avLst>
          </a:prstGeom>
          <a:solidFill>
            <a:srgbClr val="8B7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 name="Google Shape;33;p8"/>
          <p:cNvSpPr/>
          <p:nvPr/>
        </p:nvSpPr>
        <p:spPr>
          <a:xfrm>
            <a:off x="685800" y="800100"/>
            <a:ext cx="781050" cy="723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900">
                <a:solidFill>
                  <a:srgbClr val="101323"/>
                </a:solidFill>
                <a:latin typeface="Arial"/>
                <a:ea typeface="Arial"/>
                <a:cs typeface="Arial"/>
                <a:sym typeface="Arial"/>
              </a:rPr>
              <a:t>Q</a:t>
            </a:r>
            <a:endParaRPr/>
          </a:p>
        </p:txBody>
      </p:sp>
      <p:sp>
        <p:nvSpPr>
          <p:cNvPr id="34" name="Google Shape;34;p8"/>
          <p:cNvSpPr/>
          <p:nvPr/>
        </p:nvSpPr>
        <p:spPr>
          <a:xfrm>
            <a:off x="685800" y="2095500"/>
            <a:ext cx="8572500" cy="819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650">
                <a:solidFill>
                  <a:srgbClr val="F2F5FA"/>
                </a:solidFill>
                <a:latin typeface="Arial"/>
                <a:ea typeface="Arial"/>
                <a:cs typeface="Arial"/>
                <a:sym typeface="Arial"/>
              </a:rPr>
              <a:t>QC mini</a:t>
            </a:r>
            <a:endParaRPr/>
          </a:p>
        </p:txBody>
      </p:sp>
      <p:sp>
        <p:nvSpPr>
          <p:cNvPr id="35" name="Google Shape;35;p8"/>
          <p:cNvSpPr/>
          <p:nvPr/>
        </p:nvSpPr>
        <p:spPr>
          <a:xfrm>
            <a:off x="723900" y="3028950"/>
            <a:ext cx="9810750" cy="571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250">
                <a:solidFill>
                  <a:srgbClr val="A9B6C8"/>
                </a:solidFill>
                <a:latin typeface="Arial"/>
                <a:ea typeface="Arial"/>
                <a:cs typeface="Arial"/>
                <a:sym typeface="Arial"/>
              </a:rPr>
              <a:t>Trợ lý kiểm soát chất lượng dữ liệu gán nhãn</a:t>
            </a:r>
            <a:endParaRPr/>
          </a:p>
        </p:txBody>
      </p:sp>
      <p:sp>
        <p:nvSpPr>
          <p:cNvPr id="36" name="Google Shape;36;p8"/>
          <p:cNvSpPr/>
          <p:nvPr/>
        </p:nvSpPr>
        <p:spPr>
          <a:xfrm>
            <a:off x="723900" y="3905250"/>
            <a:ext cx="1238250" cy="47625"/>
          </a:xfrm>
          <a:prstGeom prst="rect">
            <a:avLst/>
          </a:prstGeom>
          <a:solidFill>
            <a:srgbClr val="43D6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 name="Google Shape;37;p8"/>
          <p:cNvSpPr/>
          <p:nvPr/>
        </p:nvSpPr>
        <p:spPr>
          <a:xfrm>
            <a:off x="723900" y="4210050"/>
            <a:ext cx="962025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725">
                <a:solidFill>
                  <a:srgbClr val="F2F5FA"/>
                </a:solidFill>
                <a:latin typeface="Arial"/>
                <a:ea typeface="Arial"/>
                <a:cs typeface="Arial"/>
                <a:sym typeface="Arial"/>
              </a:rPr>
              <a:t>AI tìm điểm cần chú ý. Reviewer xác nhận kết quả.</a:t>
            </a:r>
            <a:endParaRPr/>
          </a:p>
        </p:txBody>
      </p:sp>
      <p:sp>
        <p:nvSpPr>
          <p:cNvPr id="38" name="Google Shape;38;p8"/>
          <p:cNvSpPr/>
          <p:nvPr/>
        </p:nvSpPr>
        <p:spPr>
          <a:xfrm>
            <a:off x="723900" y="5481177"/>
            <a:ext cx="5715000" cy="2476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500">
                <a:solidFill>
                  <a:srgbClr val="43D6B2"/>
                </a:solidFill>
                <a:latin typeface="Arial"/>
                <a:ea typeface="Arial"/>
                <a:cs typeface="Arial"/>
                <a:sym typeface="Arial"/>
              </a:rPr>
              <a:t>P – 037 </a:t>
            </a:r>
            <a:br>
              <a:rPr b="1" lang="en-US" sz="2500">
                <a:solidFill>
                  <a:srgbClr val="43D6B2"/>
                </a:solidFill>
                <a:latin typeface="Arial"/>
                <a:ea typeface="Arial"/>
                <a:cs typeface="Arial"/>
                <a:sym typeface="Arial"/>
              </a:rPr>
            </a:br>
            <a:r>
              <a:rPr b="1" lang="en-US" sz="2500">
                <a:solidFill>
                  <a:srgbClr val="43D6B2"/>
                </a:solidFill>
                <a:latin typeface="Arial"/>
                <a:ea typeface="Arial"/>
                <a:cs typeface="Arial"/>
                <a:sym typeface="Arial"/>
              </a:rPr>
              <a:t>Đoàn Văn Thắng :  2A202602327</a:t>
            </a:r>
            <a:endParaRPr/>
          </a:p>
          <a:p>
            <a:pPr indent="0" lvl="0" marL="0" marR="0" rtl="0" algn="l">
              <a:spcBef>
                <a:spcPts val="0"/>
              </a:spcBef>
              <a:spcAft>
                <a:spcPts val="0"/>
              </a:spcAft>
              <a:buNone/>
            </a:pPr>
            <a:r>
              <a:rPr b="1" lang="en-US" sz="2500">
                <a:solidFill>
                  <a:srgbClr val="43D6B2"/>
                </a:solidFill>
                <a:latin typeface="Arial"/>
                <a:ea typeface="Arial"/>
                <a:cs typeface="Arial"/>
                <a:sym typeface="Arial"/>
              </a:rPr>
              <a:t>Nguyễn Thanh Đức : </a:t>
            </a:r>
            <a:r>
              <a:rPr b="1" lang="en-US" sz="2500">
                <a:solidFill>
                  <a:srgbClr val="43D6B2"/>
                </a:solidFill>
              </a:rPr>
              <a:t>2A202602279</a:t>
            </a:r>
            <a:endParaRPr b="1" sz="2500">
              <a:solidFill>
                <a:srgbClr val="43D6B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6"/>
        </a:solidFill>
      </p:bgPr>
    </p:bg>
    <p:spTree>
      <p:nvGrpSpPr>
        <p:cNvPr id="43" name="Shape 43"/>
        <p:cNvGrpSpPr/>
        <p:nvPr/>
      </p:nvGrpSpPr>
      <p:grpSpPr>
        <a:xfrm>
          <a:off x="0" y="0"/>
          <a:ext cx="0" cy="0"/>
          <a:chOff x="0" y="0"/>
          <a:chExt cx="0" cy="0"/>
        </a:xfrm>
      </p:grpSpPr>
      <p:sp>
        <p:nvSpPr>
          <p:cNvPr id="44" name="Google Shape;44;p9"/>
          <p:cNvSpPr/>
          <p:nvPr/>
        </p:nvSpPr>
        <p:spPr>
          <a:xfrm>
            <a:off x="685800" y="304800"/>
            <a:ext cx="3810000" cy="209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43D6B2"/>
                </a:solidFill>
                <a:latin typeface="Arial"/>
                <a:ea typeface="Arial"/>
                <a:cs typeface="Arial"/>
                <a:sym typeface="Arial"/>
              </a:rPr>
              <a:t>QC MINI  /  PIPELINE</a:t>
            </a:r>
            <a:endParaRPr/>
          </a:p>
        </p:txBody>
      </p:sp>
      <p:sp>
        <p:nvSpPr>
          <p:cNvPr id="45" name="Google Shape;45;p9"/>
          <p:cNvSpPr/>
          <p:nvPr/>
        </p:nvSpPr>
        <p:spPr>
          <a:xfrm>
            <a:off x="685800" y="609600"/>
            <a:ext cx="108204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50">
                <a:solidFill>
                  <a:srgbClr val="F2F5FA"/>
                </a:solidFill>
                <a:latin typeface="Arial"/>
                <a:ea typeface="Arial"/>
                <a:cs typeface="Arial"/>
                <a:sym typeface="Arial"/>
              </a:rPr>
              <a:t>Kiến trúc xử lý chính</a:t>
            </a:r>
            <a:endParaRPr/>
          </a:p>
        </p:txBody>
      </p:sp>
      <p:sp>
        <p:nvSpPr>
          <p:cNvPr id="46" name="Google Shape;46;p9"/>
          <p:cNvSpPr/>
          <p:nvPr/>
        </p:nvSpPr>
        <p:spPr>
          <a:xfrm>
            <a:off x="685800" y="1200150"/>
            <a:ext cx="10820400"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 name="Google Shape;47;p9"/>
          <p:cNvSpPr/>
          <p:nvPr/>
        </p:nvSpPr>
        <p:spPr>
          <a:xfrm>
            <a:off x="704850" y="1323975"/>
            <a:ext cx="10287000" cy="323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75">
                <a:solidFill>
                  <a:srgbClr val="A9B6C8"/>
                </a:solidFill>
                <a:latin typeface="Arial"/>
                <a:ea typeface="Arial"/>
                <a:cs typeface="Arial"/>
                <a:sym typeface="Arial"/>
              </a:rPr>
              <a:t>Dữ liệu đi qua mô hình phù hợp với loại nhãn</a:t>
            </a:r>
            <a:endParaRPr/>
          </a:p>
        </p:txBody>
      </p:sp>
      <p:sp>
        <p:nvSpPr>
          <p:cNvPr id="48" name="Google Shape;48;p9"/>
          <p:cNvSpPr/>
          <p:nvPr/>
        </p:nvSpPr>
        <p:spPr>
          <a:xfrm>
            <a:off x="742950" y="2343150"/>
            <a:ext cx="1562100" cy="1381125"/>
          </a:xfrm>
          <a:prstGeom prst="roundRect">
            <a:avLst>
              <a:gd fmla="val 5517" name="adj"/>
            </a:avLst>
          </a:prstGeom>
          <a:solidFill>
            <a:srgbClr val="111925"/>
          </a:solidFill>
          <a:ln cap="flat" cmpd="sng" w="19050">
            <a:solidFill>
              <a:srgbClr val="58B7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p9"/>
          <p:cNvSpPr/>
          <p:nvPr/>
        </p:nvSpPr>
        <p:spPr>
          <a:xfrm>
            <a:off x="885825" y="2457450"/>
            <a:ext cx="1276350" cy="26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500">
                <a:solidFill>
                  <a:srgbClr val="58B7F5"/>
                </a:solidFill>
                <a:latin typeface="Arial"/>
                <a:ea typeface="Arial"/>
                <a:cs typeface="Arial"/>
                <a:sym typeface="Arial"/>
              </a:rPr>
              <a:t>INPUT</a:t>
            </a:r>
            <a:endParaRPr/>
          </a:p>
        </p:txBody>
      </p:sp>
      <p:sp>
        <p:nvSpPr>
          <p:cNvPr id="50" name="Google Shape;50;p9"/>
          <p:cNvSpPr/>
          <p:nvPr/>
        </p:nvSpPr>
        <p:spPr>
          <a:xfrm>
            <a:off x="885825" y="2762250"/>
            <a:ext cx="1276350" cy="8858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F2F5FA"/>
                </a:solidFill>
                <a:latin typeface="Arial"/>
                <a:ea typeface="Arial"/>
                <a:cs typeface="Arial"/>
                <a:sym typeface="Arial"/>
              </a:rPr>
              <a:t>Dataset</a:t>
            </a:r>
            <a:endParaRPr/>
          </a:p>
          <a:p>
            <a:pPr indent="0" lvl="0" marL="0" marR="0" rtl="0" algn="l">
              <a:spcBef>
                <a:spcPts val="0"/>
              </a:spcBef>
              <a:spcAft>
                <a:spcPts val="0"/>
              </a:spcAft>
              <a:buNone/>
            </a:pPr>
            <a:r>
              <a:rPr b="0" lang="en-US" sz="1275">
                <a:solidFill>
                  <a:srgbClr val="F2F5FA"/>
                </a:solidFill>
                <a:latin typeface="Arial"/>
                <a:ea typeface="Arial"/>
                <a:cs typeface="Arial"/>
                <a:sym typeface="Arial"/>
              </a:rPr>
              <a:t>Ảnh / mask</a:t>
            </a:r>
            <a:endParaRPr/>
          </a:p>
          <a:p>
            <a:pPr indent="0" lvl="0" marL="0" marR="0" rtl="0" algn="l">
              <a:spcBef>
                <a:spcPts val="0"/>
              </a:spcBef>
              <a:spcAft>
                <a:spcPts val="0"/>
              </a:spcAft>
              <a:buNone/>
            </a:pPr>
            <a:r>
              <a:rPr b="0" lang="en-US" sz="1275">
                <a:solidFill>
                  <a:srgbClr val="F2F5FA"/>
                </a:solidFill>
                <a:latin typeface="Arial"/>
                <a:ea typeface="Arial"/>
                <a:cs typeface="Arial"/>
                <a:sym typeface="Arial"/>
              </a:rPr>
              <a:t>Guideline</a:t>
            </a:r>
            <a:endParaRPr/>
          </a:p>
        </p:txBody>
      </p:sp>
      <p:sp>
        <p:nvSpPr>
          <p:cNvPr id="51" name="Google Shape;51;p9"/>
          <p:cNvSpPr/>
          <p:nvPr/>
        </p:nvSpPr>
        <p:spPr>
          <a:xfrm>
            <a:off x="2324100" y="2781300"/>
            <a:ext cx="342900" cy="476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250">
                <a:solidFill>
                  <a:srgbClr val="A9B6C8"/>
                </a:solidFill>
                <a:latin typeface="Arial"/>
                <a:ea typeface="Arial"/>
                <a:cs typeface="Arial"/>
                <a:sym typeface="Arial"/>
              </a:rPr>
              <a:t>→</a:t>
            </a:r>
            <a:endParaRPr/>
          </a:p>
        </p:txBody>
      </p:sp>
      <p:sp>
        <p:nvSpPr>
          <p:cNvPr id="52" name="Google Shape;52;p9"/>
          <p:cNvSpPr/>
          <p:nvPr/>
        </p:nvSpPr>
        <p:spPr>
          <a:xfrm>
            <a:off x="2686050" y="2343150"/>
            <a:ext cx="1847850" cy="1381125"/>
          </a:xfrm>
          <a:prstGeom prst="roundRect">
            <a:avLst>
              <a:gd fmla="val 5517" name="adj"/>
            </a:avLst>
          </a:prstGeom>
          <a:solidFill>
            <a:srgbClr val="111925"/>
          </a:solidFill>
          <a:ln cap="flat" cmpd="sng" w="19050">
            <a:solidFill>
              <a:srgbClr val="FF6C7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 name="Google Shape;53;p9"/>
          <p:cNvSpPr/>
          <p:nvPr/>
        </p:nvSpPr>
        <p:spPr>
          <a:xfrm>
            <a:off x="2828925" y="2457450"/>
            <a:ext cx="1562100" cy="26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FF6C78"/>
                </a:solidFill>
                <a:latin typeface="Arial"/>
                <a:ea typeface="Arial"/>
                <a:cs typeface="Arial"/>
                <a:sym typeface="Arial"/>
              </a:rPr>
              <a:t>LỌC THEO RULE</a:t>
            </a:r>
            <a:endParaRPr/>
          </a:p>
        </p:txBody>
      </p:sp>
      <p:sp>
        <p:nvSpPr>
          <p:cNvPr id="54" name="Google Shape;54;p9"/>
          <p:cNvSpPr/>
          <p:nvPr/>
        </p:nvSpPr>
        <p:spPr>
          <a:xfrm>
            <a:off x="2828925" y="2762250"/>
            <a:ext cx="1562100" cy="8858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F2F5FA"/>
                </a:solidFill>
                <a:latin typeface="Arial"/>
                <a:ea typeface="Arial"/>
                <a:cs typeface="Arial"/>
                <a:sym typeface="Arial"/>
              </a:rPr>
              <a:t>Theo guideline:</a:t>
            </a:r>
            <a:endParaRPr/>
          </a:p>
          <a:p>
            <a:pPr indent="0" lvl="0" marL="0" marR="0" rtl="0" algn="l">
              <a:spcBef>
                <a:spcPts val="0"/>
              </a:spcBef>
              <a:spcAft>
                <a:spcPts val="0"/>
              </a:spcAft>
              <a:buNone/>
            </a:pPr>
            <a:r>
              <a:rPr b="0" lang="en-US" sz="1275">
                <a:solidFill>
                  <a:srgbClr val="F2F5FA"/>
                </a:solidFill>
                <a:latin typeface="Arial"/>
                <a:ea typeface="Arial"/>
                <a:cs typeface="Arial"/>
                <a:sym typeface="Arial"/>
              </a:rPr>
              <a:t>box quá nhỏ, box trùng,</a:t>
            </a:r>
            <a:endParaRPr/>
          </a:p>
          <a:p>
            <a:pPr indent="0" lvl="0" marL="0" marR="0" rtl="0" algn="l">
              <a:spcBef>
                <a:spcPts val="0"/>
              </a:spcBef>
              <a:spcAft>
                <a:spcPts val="0"/>
              </a:spcAft>
              <a:buNone/>
            </a:pPr>
            <a:r>
              <a:rPr b="0" lang="en-US" sz="1275">
                <a:solidFill>
                  <a:srgbClr val="F2F5FA"/>
                </a:solidFill>
                <a:latin typeface="Arial"/>
                <a:ea typeface="Arial"/>
                <a:cs typeface="Arial"/>
                <a:sym typeface="Arial"/>
              </a:rPr>
              <a:t>IoU thấp, sát / cắt biên</a:t>
            </a:r>
            <a:endParaRPr/>
          </a:p>
        </p:txBody>
      </p:sp>
      <p:sp>
        <p:nvSpPr>
          <p:cNvPr id="55" name="Google Shape;55;p9"/>
          <p:cNvSpPr/>
          <p:nvPr/>
        </p:nvSpPr>
        <p:spPr>
          <a:xfrm>
            <a:off x="4543425" y="2781300"/>
            <a:ext cx="323850" cy="476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250">
                <a:solidFill>
                  <a:srgbClr val="A9B6C8"/>
                </a:solidFill>
                <a:latin typeface="Arial"/>
                <a:ea typeface="Arial"/>
                <a:cs typeface="Arial"/>
                <a:sym typeface="Arial"/>
              </a:rPr>
              <a:t>→</a:t>
            </a:r>
            <a:endParaRPr/>
          </a:p>
        </p:txBody>
      </p:sp>
      <p:sp>
        <p:nvSpPr>
          <p:cNvPr id="56" name="Google Shape;56;p9"/>
          <p:cNvSpPr/>
          <p:nvPr/>
        </p:nvSpPr>
        <p:spPr>
          <a:xfrm>
            <a:off x="4876800" y="1809750"/>
            <a:ext cx="2324100" cy="1200150"/>
          </a:xfrm>
          <a:prstGeom prst="roundRect">
            <a:avLst>
              <a:gd fmla="val 6349" name="adj"/>
            </a:avLst>
          </a:prstGeom>
          <a:solidFill>
            <a:srgbClr val="111925"/>
          </a:solidFill>
          <a:ln cap="flat" cmpd="sng" w="19050">
            <a:solidFill>
              <a:srgbClr val="8B78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 name="Google Shape;57;p9"/>
          <p:cNvSpPr/>
          <p:nvPr/>
        </p:nvSpPr>
        <p:spPr>
          <a:xfrm>
            <a:off x="5019675" y="1924050"/>
            <a:ext cx="2038350" cy="26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500">
                <a:solidFill>
                  <a:srgbClr val="8B78FF"/>
                </a:solidFill>
                <a:latin typeface="Arial"/>
                <a:ea typeface="Arial"/>
                <a:cs typeface="Arial"/>
                <a:sym typeface="Arial"/>
              </a:rPr>
              <a:t>BBox</a:t>
            </a:r>
            <a:endParaRPr/>
          </a:p>
        </p:txBody>
      </p:sp>
      <p:sp>
        <p:nvSpPr>
          <p:cNvPr id="58" name="Google Shape;58;p9"/>
          <p:cNvSpPr/>
          <p:nvPr/>
        </p:nvSpPr>
        <p:spPr>
          <a:xfrm>
            <a:off x="5019675" y="2228850"/>
            <a:ext cx="2038350" cy="704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F2F5FA"/>
                </a:solidFill>
                <a:latin typeface="Arial"/>
                <a:ea typeface="Arial"/>
                <a:cs typeface="Arial"/>
                <a:sym typeface="Arial"/>
              </a:rPr>
              <a:t>YOLO26x + D-FINE-X</a:t>
            </a:r>
            <a:endParaRPr/>
          </a:p>
        </p:txBody>
      </p:sp>
      <p:sp>
        <p:nvSpPr>
          <p:cNvPr id="59" name="Google Shape;59;p9"/>
          <p:cNvSpPr/>
          <p:nvPr/>
        </p:nvSpPr>
        <p:spPr>
          <a:xfrm>
            <a:off x="4876800" y="3314700"/>
            <a:ext cx="2324100" cy="1200150"/>
          </a:xfrm>
          <a:prstGeom prst="roundRect">
            <a:avLst>
              <a:gd fmla="val 6349" name="adj"/>
            </a:avLst>
          </a:prstGeom>
          <a:solidFill>
            <a:srgbClr val="111925"/>
          </a:solidFill>
          <a:ln cap="flat" cmpd="sng" w="19050">
            <a:solidFill>
              <a:srgbClr val="43D6B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 name="Google Shape;60;p9"/>
          <p:cNvSpPr/>
          <p:nvPr/>
        </p:nvSpPr>
        <p:spPr>
          <a:xfrm>
            <a:off x="5019675" y="3429000"/>
            <a:ext cx="2038350" cy="26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500">
                <a:solidFill>
                  <a:srgbClr val="43D6B2"/>
                </a:solidFill>
                <a:latin typeface="Arial"/>
                <a:ea typeface="Arial"/>
                <a:cs typeface="Arial"/>
                <a:sym typeface="Arial"/>
              </a:rPr>
              <a:t>Segmentation</a:t>
            </a:r>
            <a:endParaRPr/>
          </a:p>
        </p:txBody>
      </p:sp>
      <p:sp>
        <p:nvSpPr>
          <p:cNvPr id="61" name="Google Shape;61;p9"/>
          <p:cNvSpPr/>
          <p:nvPr/>
        </p:nvSpPr>
        <p:spPr>
          <a:xfrm>
            <a:off x="5019675" y="3733800"/>
            <a:ext cx="2038350" cy="704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F2F5FA"/>
                </a:solidFill>
                <a:latin typeface="Arial"/>
                <a:ea typeface="Arial"/>
                <a:cs typeface="Arial"/>
                <a:sym typeface="Arial"/>
              </a:rPr>
              <a:t>YOLO26x-Seg +</a:t>
            </a:r>
            <a:endParaRPr/>
          </a:p>
          <a:p>
            <a:pPr indent="0" lvl="0" marL="0" marR="0" rtl="0" algn="l">
              <a:spcBef>
                <a:spcPts val="0"/>
              </a:spcBef>
              <a:spcAft>
                <a:spcPts val="0"/>
              </a:spcAft>
              <a:buNone/>
            </a:pPr>
            <a:r>
              <a:rPr b="0" lang="en-US" sz="1275">
                <a:solidFill>
                  <a:srgbClr val="F2F5FA"/>
                </a:solidFill>
                <a:latin typeface="Arial"/>
                <a:ea typeface="Arial"/>
                <a:cs typeface="Arial"/>
                <a:sym typeface="Arial"/>
              </a:rPr>
              <a:t>SAM 2.1 Large</a:t>
            </a:r>
            <a:endParaRPr/>
          </a:p>
        </p:txBody>
      </p:sp>
      <p:sp>
        <p:nvSpPr>
          <p:cNvPr id="62" name="Google Shape;62;p9"/>
          <p:cNvSpPr/>
          <p:nvPr/>
        </p:nvSpPr>
        <p:spPr>
          <a:xfrm>
            <a:off x="7210425" y="2781300"/>
            <a:ext cx="323850" cy="476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250">
                <a:solidFill>
                  <a:srgbClr val="A9B6C8"/>
                </a:solidFill>
                <a:latin typeface="Arial"/>
                <a:ea typeface="Arial"/>
                <a:cs typeface="Arial"/>
                <a:sym typeface="Arial"/>
              </a:rPr>
              <a:t>→</a:t>
            </a:r>
            <a:endParaRPr/>
          </a:p>
        </p:txBody>
      </p:sp>
      <p:sp>
        <p:nvSpPr>
          <p:cNvPr id="63" name="Google Shape;63;p9"/>
          <p:cNvSpPr/>
          <p:nvPr/>
        </p:nvSpPr>
        <p:spPr>
          <a:xfrm>
            <a:off x="7543800" y="2343150"/>
            <a:ext cx="1847850" cy="1381125"/>
          </a:xfrm>
          <a:prstGeom prst="roundRect">
            <a:avLst>
              <a:gd fmla="val 5517" name="adj"/>
            </a:avLst>
          </a:prstGeom>
          <a:solidFill>
            <a:srgbClr val="111925"/>
          </a:solidFill>
          <a:ln cap="flat" cmpd="sng" w="19050">
            <a:solidFill>
              <a:srgbClr val="F5BE4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 name="Google Shape;64;p9"/>
          <p:cNvSpPr/>
          <p:nvPr/>
        </p:nvSpPr>
        <p:spPr>
          <a:xfrm>
            <a:off x="7686675" y="2457450"/>
            <a:ext cx="1562100" cy="26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500">
                <a:solidFill>
                  <a:srgbClr val="F5BE4F"/>
                </a:solidFill>
                <a:latin typeface="Arial"/>
                <a:ea typeface="Arial"/>
                <a:cs typeface="Arial"/>
                <a:sym typeface="Arial"/>
              </a:rPr>
              <a:t>GEMINI</a:t>
            </a:r>
            <a:endParaRPr/>
          </a:p>
        </p:txBody>
      </p:sp>
      <p:sp>
        <p:nvSpPr>
          <p:cNvPr id="65" name="Google Shape;65;p9"/>
          <p:cNvSpPr/>
          <p:nvPr/>
        </p:nvSpPr>
        <p:spPr>
          <a:xfrm>
            <a:off x="7686675" y="2762250"/>
            <a:ext cx="1562100" cy="8858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F2F5FA"/>
                </a:solidFill>
                <a:latin typeface="Arial"/>
                <a:ea typeface="Arial"/>
                <a:cs typeface="Arial"/>
                <a:sym typeface="Arial"/>
              </a:rPr>
              <a:t>Phân tích ảnh +</a:t>
            </a:r>
            <a:endParaRPr/>
          </a:p>
          <a:p>
            <a:pPr indent="0" lvl="0" marL="0" marR="0" rtl="0" algn="l">
              <a:spcBef>
                <a:spcPts val="0"/>
              </a:spcBef>
              <a:spcAft>
                <a:spcPts val="0"/>
              </a:spcAft>
              <a:buNone/>
            </a:pPr>
            <a:r>
              <a:rPr b="0" lang="en-US" sz="1275">
                <a:solidFill>
                  <a:srgbClr val="F2F5FA"/>
                </a:solidFill>
                <a:latin typeface="Arial"/>
                <a:ea typeface="Arial"/>
                <a:cs typeface="Arial"/>
                <a:sym typeface="Arial"/>
              </a:rPr>
              <a:t>guideline, tạo</a:t>
            </a:r>
            <a:endParaRPr/>
          </a:p>
          <a:p>
            <a:pPr indent="0" lvl="0" marL="0" marR="0" rtl="0" algn="l">
              <a:spcBef>
                <a:spcPts val="0"/>
              </a:spcBef>
              <a:spcAft>
                <a:spcPts val="0"/>
              </a:spcAft>
              <a:buNone/>
            </a:pPr>
            <a:r>
              <a:rPr b="0" lang="en-US" sz="1275">
                <a:solidFill>
                  <a:srgbClr val="F2F5FA"/>
                </a:solidFill>
                <a:latin typeface="Arial"/>
                <a:ea typeface="Arial"/>
                <a:cs typeface="Arial"/>
                <a:sym typeface="Arial"/>
              </a:rPr>
              <a:t>review candidates</a:t>
            </a:r>
            <a:endParaRPr/>
          </a:p>
        </p:txBody>
      </p:sp>
      <p:sp>
        <p:nvSpPr>
          <p:cNvPr id="66" name="Google Shape;66;p9"/>
          <p:cNvSpPr/>
          <p:nvPr/>
        </p:nvSpPr>
        <p:spPr>
          <a:xfrm>
            <a:off x="9401175" y="2781300"/>
            <a:ext cx="285750" cy="4762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0">
                <a:solidFill>
                  <a:srgbClr val="A9B6C8"/>
                </a:solidFill>
                <a:latin typeface="Arial"/>
                <a:ea typeface="Arial"/>
                <a:cs typeface="Arial"/>
                <a:sym typeface="Arial"/>
              </a:rPr>
              <a:t>→</a:t>
            </a:r>
            <a:endParaRPr/>
          </a:p>
        </p:txBody>
      </p:sp>
      <p:sp>
        <p:nvSpPr>
          <p:cNvPr id="67" name="Google Shape;67;p9"/>
          <p:cNvSpPr/>
          <p:nvPr/>
        </p:nvSpPr>
        <p:spPr>
          <a:xfrm>
            <a:off x="9696450" y="2343150"/>
            <a:ext cx="1809750" cy="1381125"/>
          </a:xfrm>
          <a:prstGeom prst="roundRect">
            <a:avLst>
              <a:gd fmla="val 5517" name="adj"/>
            </a:avLst>
          </a:prstGeom>
          <a:solidFill>
            <a:srgbClr val="111925"/>
          </a:solidFill>
          <a:ln cap="flat" cmpd="sng" w="19050">
            <a:solidFill>
              <a:srgbClr val="42D7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 name="Google Shape;68;p9"/>
          <p:cNvSpPr/>
          <p:nvPr/>
        </p:nvSpPr>
        <p:spPr>
          <a:xfrm>
            <a:off x="9839325" y="2457450"/>
            <a:ext cx="1524000" cy="26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500">
                <a:solidFill>
                  <a:srgbClr val="42D7A3"/>
                </a:solidFill>
                <a:latin typeface="Arial"/>
                <a:ea typeface="Arial"/>
                <a:cs typeface="Arial"/>
                <a:sym typeface="Arial"/>
              </a:rPr>
              <a:t>REVIEW</a:t>
            </a:r>
            <a:endParaRPr/>
          </a:p>
        </p:txBody>
      </p:sp>
      <p:sp>
        <p:nvSpPr>
          <p:cNvPr id="69" name="Google Shape;69;p9"/>
          <p:cNvSpPr/>
          <p:nvPr/>
        </p:nvSpPr>
        <p:spPr>
          <a:xfrm>
            <a:off x="9839325" y="2762250"/>
            <a:ext cx="1524000" cy="8858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F2F5FA"/>
                </a:solidFill>
                <a:latin typeface="Arial"/>
                <a:ea typeface="Arial"/>
                <a:cs typeface="Arial"/>
                <a:sym typeface="Arial"/>
              </a:rPr>
              <a:t>Reviewer xem</a:t>
            </a:r>
            <a:endParaRPr/>
          </a:p>
          <a:p>
            <a:pPr indent="0" lvl="0" marL="0" marR="0" rtl="0" algn="l">
              <a:spcBef>
                <a:spcPts val="0"/>
              </a:spcBef>
              <a:spcAft>
                <a:spcPts val="0"/>
              </a:spcAft>
              <a:buNone/>
            </a:pPr>
            <a:r>
              <a:rPr b="0" lang="en-US" sz="1275">
                <a:solidFill>
                  <a:srgbClr val="F2F5FA"/>
                </a:solidFill>
                <a:latin typeface="Arial"/>
                <a:ea typeface="Arial"/>
                <a:cs typeface="Arial"/>
                <a:sym typeface="Arial"/>
              </a:rPr>
              <a:t>Giữ lại hoặc loại</a:t>
            </a:r>
            <a:endParaRPr/>
          </a:p>
          <a:p>
            <a:pPr indent="0" lvl="0" marL="0" marR="0" rtl="0" algn="l">
              <a:spcBef>
                <a:spcPts val="0"/>
              </a:spcBef>
              <a:spcAft>
                <a:spcPts val="0"/>
              </a:spcAft>
              <a:buNone/>
            </a:pPr>
            <a:r>
              <a:rPr b="0" lang="en-US" sz="1275">
                <a:solidFill>
                  <a:srgbClr val="F2F5FA"/>
                </a:solidFill>
                <a:latin typeface="Arial"/>
                <a:ea typeface="Arial"/>
                <a:cs typeface="Arial"/>
                <a:sym typeface="Arial"/>
              </a:rPr>
              <a:t>Xuất báo cáo</a:t>
            </a:r>
            <a:endParaRPr/>
          </a:p>
        </p:txBody>
      </p:sp>
      <p:sp>
        <p:nvSpPr>
          <p:cNvPr id="70" name="Google Shape;70;p9"/>
          <p:cNvSpPr/>
          <p:nvPr/>
        </p:nvSpPr>
        <p:spPr>
          <a:xfrm>
            <a:off x="2686050" y="4829175"/>
            <a:ext cx="6477000" cy="3238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350">
                <a:solidFill>
                  <a:srgbClr val="A9B6C8"/>
                </a:solidFill>
                <a:latin typeface="Arial"/>
                <a:ea typeface="Arial"/>
                <a:cs typeface="Arial"/>
                <a:sym typeface="Arial"/>
              </a:rPr>
              <a:t>Chọn nhánh theo loại annotation: BBox hoặc Segmentation</a:t>
            </a:r>
            <a:endParaRPr/>
          </a:p>
        </p:txBody>
      </p:sp>
      <p:sp>
        <p:nvSpPr>
          <p:cNvPr id="71" name="Google Shape;71;p9"/>
          <p:cNvSpPr/>
          <p:nvPr/>
        </p:nvSpPr>
        <p:spPr>
          <a:xfrm>
            <a:off x="2705100" y="5448300"/>
            <a:ext cx="6762750" cy="533400"/>
          </a:xfrm>
          <a:prstGeom prst="roundRect">
            <a:avLst>
              <a:gd fmla="val 14286" name="adj"/>
            </a:avLst>
          </a:prstGeom>
          <a:solidFill>
            <a:srgbClr val="132820"/>
          </a:solidFill>
          <a:ln cap="flat" cmpd="sng" w="9525">
            <a:solidFill>
              <a:srgbClr val="285B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 name="Google Shape;72;p9"/>
          <p:cNvSpPr/>
          <p:nvPr/>
        </p:nvSpPr>
        <p:spPr>
          <a:xfrm>
            <a:off x="2895600" y="5534025"/>
            <a:ext cx="6381750" cy="34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500">
                <a:solidFill>
                  <a:srgbClr val="42D7A3"/>
                </a:solidFill>
                <a:latin typeface="Arial"/>
                <a:ea typeface="Arial"/>
                <a:cs typeface="Arial"/>
                <a:sym typeface="Arial"/>
              </a:rPr>
              <a:t>AI đánh dấu candidate. Người review đưa ra quyết định cuối cùng.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6"/>
        </a:solidFill>
      </p:bgPr>
    </p:bg>
    <p:spTree>
      <p:nvGrpSpPr>
        <p:cNvPr id="77" name="Shape 77"/>
        <p:cNvGrpSpPr/>
        <p:nvPr/>
      </p:nvGrpSpPr>
      <p:grpSpPr>
        <a:xfrm>
          <a:off x="0" y="0"/>
          <a:ext cx="0" cy="0"/>
          <a:chOff x="0" y="0"/>
          <a:chExt cx="0" cy="0"/>
        </a:xfrm>
      </p:grpSpPr>
      <p:sp>
        <p:nvSpPr>
          <p:cNvPr id="78" name="Google Shape;78;p10"/>
          <p:cNvSpPr/>
          <p:nvPr/>
        </p:nvSpPr>
        <p:spPr>
          <a:xfrm>
            <a:off x="685800" y="304800"/>
            <a:ext cx="3810000" cy="209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43D6B2"/>
                </a:solidFill>
                <a:latin typeface="Arial"/>
                <a:ea typeface="Arial"/>
                <a:cs typeface="Arial"/>
                <a:sym typeface="Arial"/>
              </a:rPr>
              <a:t>QC MINI  /  INPUT</a:t>
            </a:r>
            <a:endParaRPr/>
          </a:p>
        </p:txBody>
      </p:sp>
      <p:sp>
        <p:nvSpPr>
          <p:cNvPr id="79" name="Google Shape;79;p10"/>
          <p:cNvSpPr/>
          <p:nvPr/>
        </p:nvSpPr>
        <p:spPr>
          <a:xfrm>
            <a:off x="685800" y="609600"/>
            <a:ext cx="108204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50">
                <a:solidFill>
                  <a:srgbClr val="F2F5FA"/>
                </a:solidFill>
                <a:latin typeface="Arial"/>
                <a:ea typeface="Arial"/>
                <a:cs typeface="Arial"/>
                <a:sym typeface="Arial"/>
              </a:rPr>
              <a:t>Đầu vào cần chuẩn bị</a:t>
            </a:r>
            <a:endParaRPr/>
          </a:p>
        </p:txBody>
      </p:sp>
      <p:sp>
        <p:nvSpPr>
          <p:cNvPr id="80" name="Google Shape;80;p10"/>
          <p:cNvSpPr/>
          <p:nvPr/>
        </p:nvSpPr>
        <p:spPr>
          <a:xfrm>
            <a:off x="685800" y="1200150"/>
            <a:ext cx="10820400"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1" name="Google Shape;81;p10"/>
          <p:cNvSpPr/>
          <p:nvPr/>
        </p:nvSpPr>
        <p:spPr>
          <a:xfrm>
            <a:off x="742950" y="1685925"/>
            <a:ext cx="60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8B78FF"/>
                </a:solidFill>
                <a:latin typeface="Arial"/>
                <a:ea typeface="Arial"/>
                <a:cs typeface="Arial"/>
                <a:sym typeface="Arial"/>
              </a:rPr>
              <a:t>01</a:t>
            </a:r>
            <a:endParaRPr/>
          </a:p>
        </p:txBody>
      </p:sp>
      <p:sp>
        <p:nvSpPr>
          <p:cNvPr id="82" name="Google Shape;82;p10"/>
          <p:cNvSpPr/>
          <p:nvPr/>
        </p:nvSpPr>
        <p:spPr>
          <a:xfrm>
            <a:off x="1485900" y="1704975"/>
            <a:ext cx="3238500" cy="400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75">
                <a:solidFill>
                  <a:srgbClr val="F2F5FA"/>
                </a:solidFill>
                <a:latin typeface="Arial"/>
                <a:ea typeface="Arial"/>
                <a:cs typeface="Arial"/>
                <a:sym typeface="Arial"/>
              </a:rPr>
              <a:t>Dataset và nhãn</a:t>
            </a:r>
            <a:endParaRPr/>
          </a:p>
        </p:txBody>
      </p:sp>
      <p:sp>
        <p:nvSpPr>
          <p:cNvPr id="83" name="Google Shape;83;p10"/>
          <p:cNvSpPr/>
          <p:nvPr/>
        </p:nvSpPr>
        <p:spPr>
          <a:xfrm>
            <a:off x="1485900" y="2133600"/>
            <a:ext cx="43815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425">
                <a:solidFill>
                  <a:srgbClr val="A9B6C8"/>
                </a:solidFill>
                <a:latin typeface="Arial"/>
                <a:ea typeface="Arial"/>
                <a:cs typeface="Arial"/>
                <a:sym typeface="Arial"/>
              </a:rPr>
              <a:t>BDD100K, COCO, YOLO-JSON hoặc định dạng đã chuẩn hóa</a:t>
            </a:r>
            <a:endParaRPr/>
          </a:p>
        </p:txBody>
      </p:sp>
      <p:sp>
        <p:nvSpPr>
          <p:cNvPr id="84" name="Google Shape;84;p10"/>
          <p:cNvSpPr/>
          <p:nvPr/>
        </p:nvSpPr>
        <p:spPr>
          <a:xfrm>
            <a:off x="1485900" y="2857500"/>
            <a:ext cx="4238625"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10"/>
          <p:cNvSpPr/>
          <p:nvPr/>
        </p:nvSpPr>
        <p:spPr>
          <a:xfrm>
            <a:off x="742950" y="3219450"/>
            <a:ext cx="60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43D6B2"/>
                </a:solidFill>
                <a:latin typeface="Arial"/>
                <a:ea typeface="Arial"/>
                <a:cs typeface="Arial"/>
                <a:sym typeface="Arial"/>
              </a:rPr>
              <a:t>02</a:t>
            </a:r>
            <a:endParaRPr/>
          </a:p>
        </p:txBody>
      </p:sp>
      <p:sp>
        <p:nvSpPr>
          <p:cNvPr id="86" name="Google Shape;86;p10"/>
          <p:cNvSpPr/>
          <p:nvPr/>
        </p:nvSpPr>
        <p:spPr>
          <a:xfrm>
            <a:off x="1485900" y="3238500"/>
            <a:ext cx="3810000" cy="400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75">
                <a:solidFill>
                  <a:srgbClr val="F2F5FA"/>
                </a:solidFill>
                <a:latin typeface="Arial"/>
                <a:ea typeface="Arial"/>
                <a:cs typeface="Arial"/>
                <a:sym typeface="Arial"/>
              </a:rPr>
              <a:t>Ảnh frame và mask</a:t>
            </a:r>
            <a:endParaRPr/>
          </a:p>
        </p:txBody>
      </p:sp>
      <p:sp>
        <p:nvSpPr>
          <p:cNvPr id="87" name="Google Shape;87;p10"/>
          <p:cNvSpPr/>
          <p:nvPr/>
        </p:nvSpPr>
        <p:spPr>
          <a:xfrm>
            <a:off x="1485900" y="3667125"/>
            <a:ext cx="43815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425">
                <a:solidFill>
                  <a:srgbClr val="A9B6C8"/>
                </a:solidFill>
                <a:latin typeface="Arial"/>
                <a:ea typeface="Arial"/>
                <a:cs typeface="Arial"/>
                <a:sym typeface="Arial"/>
              </a:rPr>
              <a:t>Ghép ảnh với annotation; hỗ trợ ảnh và mask cho suy luận cục bộ</a:t>
            </a:r>
            <a:endParaRPr/>
          </a:p>
        </p:txBody>
      </p:sp>
      <p:sp>
        <p:nvSpPr>
          <p:cNvPr id="88" name="Google Shape;88;p10"/>
          <p:cNvSpPr/>
          <p:nvPr/>
        </p:nvSpPr>
        <p:spPr>
          <a:xfrm>
            <a:off x="1485900" y="4391025"/>
            <a:ext cx="4238625"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10"/>
          <p:cNvSpPr/>
          <p:nvPr/>
        </p:nvSpPr>
        <p:spPr>
          <a:xfrm>
            <a:off x="742950" y="4752975"/>
            <a:ext cx="609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58B7F5"/>
                </a:solidFill>
                <a:latin typeface="Arial"/>
                <a:ea typeface="Arial"/>
                <a:cs typeface="Arial"/>
                <a:sym typeface="Arial"/>
              </a:rPr>
              <a:t>03</a:t>
            </a:r>
            <a:endParaRPr/>
          </a:p>
        </p:txBody>
      </p:sp>
      <p:sp>
        <p:nvSpPr>
          <p:cNvPr id="90" name="Google Shape;90;p10"/>
          <p:cNvSpPr/>
          <p:nvPr/>
        </p:nvSpPr>
        <p:spPr>
          <a:xfrm>
            <a:off x="1485900" y="4772025"/>
            <a:ext cx="3810000" cy="400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75">
                <a:solidFill>
                  <a:srgbClr val="F2F5FA"/>
                </a:solidFill>
                <a:latin typeface="Arial"/>
                <a:ea typeface="Arial"/>
                <a:cs typeface="Arial"/>
                <a:sym typeface="Arial"/>
              </a:rPr>
              <a:t>Guideline và CVAT</a:t>
            </a:r>
            <a:endParaRPr/>
          </a:p>
        </p:txBody>
      </p:sp>
      <p:sp>
        <p:nvSpPr>
          <p:cNvPr id="91" name="Google Shape;91;p10"/>
          <p:cNvSpPr/>
          <p:nvPr/>
        </p:nvSpPr>
        <p:spPr>
          <a:xfrm>
            <a:off x="1485900" y="5200650"/>
            <a:ext cx="4429125"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425">
                <a:solidFill>
                  <a:srgbClr val="A9B6C8"/>
                </a:solidFill>
                <a:latin typeface="Arial"/>
                <a:ea typeface="Arial"/>
                <a:cs typeface="Arial"/>
                <a:sym typeface="Arial"/>
              </a:rPr>
              <a:t>Dùng quy chuẩn mặc định hoặc tải guideline riêng; có thể kết nối CVAT</a:t>
            </a:r>
            <a:endParaRPr/>
          </a:p>
        </p:txBody>
      </p:sp>
      <p:sp>
        <p:nvSpPr>
          <p:cNvPr id="92" name="Google Shape;92;p10"/>
          <p:cNvSpPr/>
          <p:nvPr/>
        </p:nvSpPr>
        <p:spPr>
          <a:xfrm>
            <a:off x="6705600" y="1676400"/>
            <a:ext cx="4724400" cy="4057650"/>
          </a:xfrm>
          <a:prstGeom prst="roundRect">
            <a:avLst>
              <a:gd fmla="val 1878" name="adj"/>
            </a:avLst>
          </a:prstGeom>
          <a:solidFill>
            <a:srgbClr val="111925"/>
          </a:solidFill>
          <a:ln cap="flat" cmpd="sng" w="9525">
            <a:solidFill>
              <a:srgbClr val="2A39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 name="Google Shape;93;p10"/>
          <p:cNvSpPr/>
          <p:nvPr/>
        </p:nvSpPr>
        <p:spPr>
          <a:xfrm>
            <a:off x="7029450" y="1962150"/>
            <a:ext cx="4000500" cy="381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75">
                <a:solidFill>
                  <a:srgbClr val="F2F5FA"/>
                </a:solidFill>
                <a:latin typeface="Arial"/>
                <a:ea typeface="Arial"/>
                <a:cs typeface="Arial"/>
                <a:sym typeface="Arial"/>
              </a:rPr>
              <a:t>Trước khi chạy QC</a:t>
            </a:r>
            <a:endParaRPr/>
          </a:p>
        </p:txBody>
      </p:sp>
      <p:sp>
        <p:nvSpPr>
          <p:cNvPr id="94" name="Google Shape;94;p10"/>
          <p:cNvSpPr/>
          <p:nvPr/>
        </p:nvSpPr>
        <p:spPr>
          <a:xfrm>
            <a:off x="7029450" y="2667000"/>
            <a:ext cx="4000500" cy="323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500">
                <a:solidFill>
                  <a:srgbClr val="58B7F5"/>
                </a:solidFill>
                <a:latin typeface="Arial"/>
                <a:ea typeface="Arial"/>
                <a:cs typeface="Arial"/>
                <a:sym typeface="Arial"/>
              </a:rPr>
              <a:t>Kiểm tra dataset đã nạp</a:t>
            </a:r>
            <a:endParaRPr/>
          </a:p>
        </p:txBody>
      </p:sp>
      <p:sp>
        <p:nvSpPr>
          <p:cNvPr id="95" name="Google Shape;95;p10"/>
          <p:cNvSpPr/>
          <p:nvPr/>
        </p:nvSpPr>
        <p:spPr>
          <a:xfrm>
            <a:off x="7029450" y="3352800"/>
            <a:ext cx="4000500" cy="323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500">
                <a:solidFill>
                  <a:srgbClr val="43D6B2"/>
                </a:solidFill>
                <a:latin typeface="Arial"/>
                <a:ea typeface="Arial"/>
                <a:cs typeface="Arial"/>
                <a:sym typeface="Arial"/>
              </a:rPr>
              <a:t>Xác nhận ảnh khớp nhãn</a:t>
            </a:r>
            <a:endParaRPr/>
          </a:p>
        </p:txBody>
      </p:sp>
      <p:sp>
        <p:nvSpPr>
          <p:cNvPr id="96" name="Google Shape;96;p10"/>
          <p:cNvSpPr/>
          <p:nvPr/>
        </p:nvSpPr>
        <p:spPr>
          <a:xfrm>
            <a:off x="7029450" y="4038600"/>
            <a:ext cx="4000500" cy="323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500">
                <a:solidFill>
                  <a:srgbClr val="8B78FF"/>
                </a:solidFill>
                <a:latin typeface="Arial"/>
                <a:ea typeface="Arial"/>
                <a:cs typeface="Arial"/>
                <a:sym typeface="Arial"/>
              </a:rPr>
              <a:t>Chọn guideline áp dụng</a:t>
            </a:r>
            <a:endParaRPr/>
          </a:p>
        </p:txBody>
      </p:sp>
      <p:sp>
        <p:nvSpPr>
          <p:cNvPr id="97" name="Google Shape;97;p10"/>
          <p:cNvSpPr/>
          <p:nvPr/>
        </p:nvSpPr>
        <p:spPr>
          <a:xfrm>
            <a:off x="7029450" y="4724400"/>
            <a:ext cx="4000500"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500">
                <a:solidFill>
                  <a:srgbClr val="F5BE4F"/>
                </a:solidFill>
                <a:latin typeface="Arial"/>
                <a:ea typeface="Arial"/>
                <a:cs typeface="Arial"/>
                <a:sym typeface="Arial"/>
              </a:rPr>
              <a:t>Chọn loại nhãn và cấu hình CVAT nếu cần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6"/>
        </a:solidFill>
      </p:bgPr>
    </p:bg>
    <p:spTree>
      <p:nvGrpSpPr>
        <p:cNvPr id="102" name="Shape 102"/>
        <p:cNvGrpSpPr/>
        <p:nvPr/>
      </p:nvGrpSpPr>
      <p:grpSpPr>
        <a:xfrm>
          <a:off x="0" y="0"/>
          <a:ext cx="0" cy="0"/>
          <a:chOff x="0" y="0"/>
          <a:chExt cx="0" cy="0"/>
        </a:xfrm>
      </p:grpSpPr>
      <p:sp>
        <p:nvSpPr>
          <p:cNvPr id="103" name="Google Shape;103;p11"/>
          <p:cNvSpPr/>
          <p:nvPr/>
        </p:nvSpPr>
        <p:spPr>
          <a:xfrm>
            <a:off x="685800" y="304800"/>
            <a:ext cx="3810000" cy="209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43D6B2"/>
                </a:solidFill>
                <a:latin typeface="Arial"/>
                <a:ea typeface="Arial"/>
                <a:cs typeface="Arial"/>
                <a:sym typeface="Arial"/>
              </a:rPr>
              <a:t>QC MINI  /  ANALYSIS</a:t>
            </a:r>
            <a:endParaRPr/>
          </a:p>
        </p:txBody>
      </p:sp>
      <p:sp>
        <p:nvSpPr>
          <p:cNvPr id="104" name="Google Shape;104;p11"/>
          <p:cNvSpPr/>
          <p:nvPr/>
        </p:nvSpPr>
        <p:spPr>
          <a:xfrm>
            <a:off x="685800" y="609600"/>
            <a:ext cx="108204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50">
                <a:solidFill>
                  <a:srgbClr val="F2F5FA"/>
                </a:solidFill>
                <a:latin typeface="Arial"/>
                <a:ea typeface="Arial"/>
                <a:cs typeface="Arial"/>
                <a:sym typeface="Arial"/>
              </a:rPr>
              <a:t>Rule đầu vào và các model</a:t>
            </a:r>
            <a:endParaRPr/>
          </a:p>
        </p:txBody>
      </p:sp>
      <p:sp>
        <p:nvSpPr>
          <p:cNvPr id="105" name="Google Shape;105;p11"/>
          <p:cNvSpPr/>
          <p:nvPr/>
        </p:nvSpPr>
        <p:spPr>
          <a:xfrm>
            <a:off x="685800" y="1200150"/>
            <a:ext cx="10820400"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 name="Google Shape;106;p11"/>
          <p:cNvSpPr/>
          <p:nvPr/>
        </p:nvSpPr>
        <p:spPr>
          <a:xfrm>
            <a:off x="838200" y="1581150"/>
            <a:ext cx="257175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575">
                <a:solidFill>
                  <a:srgbClr val="FF6C78"/>
                </a:solidFill>
                <a:latin typeface="Arial"/>
                <a:ea typeface="Arial"/>
                <a:cs typeface="Arial"/>
                <a:sym typeface="Arial"/>
              </a:rPr>
              <a:t>Rule theo guideline</a:t>
            </a:r>
            <a:endParaRPr/>
          </a:p>
        </p:txBody>
      </p:sp>
      <p:sp>
        <p:nvSpPr>
          <p:cNvPr id="107" name="Google Shape;107;p11"/>
          <p:cNvSpPr/>
          <p:nvPr/>
        </p:nvSpPr>
        <p:spPr>
          <a:xfrm>
            <a:off x="3486150" y="1581150"/>
            <a:ext cx="7810500" cy="3238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425">
                <a:solidFill>
                  <a:srgbClr val="F2F5FA"/>
                </a:solidFill>
                <a:latin typeface="Arial"/>
                <a:ea typeface="Arial"/>
                <a:cs typeface="Arial"/>
                <a:sym typeface="Arial"/>
              </a:rPr>
              <a:t>Kiểm tra box quá nhỏ, box trùng, IoU thấp hoặc vùng chạm / cắt biên.</a:t>
            </a:r>
            <a:endParaRPr/>
          </a:p>
        </p:txBody>
      </p:sp>
      <p:sp>
        <p:nvSpPr>
          <p:cNvPr id="108" name="Google Shape;108;p11"/>
          <p:cNvSpPr/>
          <p:nvPr/>
        </p:nvSpPr>
        <p:spPr>
          <a:xfrm>
            <a:off x="838200" y="2038350"/>
            <a:ext cx="10515600"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 name="Google Shape;109;p11"/>
          <p:cNvSpPr/>
          <p:nvPr/>
        </p:nvSpPr>
        <p:spPr>
          <a:xfrm>
            <a:off x="838200" y="2324100"/>
            <a:ext cx="1428750" cy="381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025">
                <a:solidFill>
                  <a:srgbClr val="8B78FF"/>
                </a:solidFill>
                <a:latin typeface="Arial"/>
                <a:ea typeface="Arial"/>
                <a:cs typeface="Arial"/>
                <a:sym typeface="Arial"/>
              </a:rPr>
              <a:t>BBox</a:t>
            </a:r>
            <a:endParaRPr/>
          </a:p>
        </p:txBody>
      </p:sp>
      <p:sp>
        <p:nvSpPr>
          <p:cNvPr id="110" name="Google Shape;110;p11"/>
          <p:cNvSpPr/>
          <p:nvPr/>
        </p:nvSpPr>
        <p:spPr>
          <a:xfrm>
            <a:off x="838200" y="2781300"/>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325">
                <a:solidFill>
                  <a:srgbClr val="F2F5FA"/>
                </a:solidFill>
                <a:latin typeface="Arial"/>
                <a:ea typeface="Arial"/>
                <a:cs typeface="Arial"/>
                <a:sym typeface="Arial"/>
              </a:rPr>
              <a:t>YOLO26x + D-FINE-X</a:t>
            </a:r>
            <a:endParaRPr/>
          </a:p>
        </p:txBody>
      </p:sp>
      <p:sp>
        <p:nvSpPr>
          <p:cNvPr id="111" name="Google Shape;111;p11"/>
          <p:cNvSpPr/>
          <p:nvPr/>
        </p:nvSpPr>
        <p:spPr>
          <a:xfrm>
            <a:off x="838200" y="3305175"/>
            <a:ext cx="4429125"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75">
                <a:solidFill>
                  <a:srgbClr val="A9B6C8"/>
                </a:solidFill>
                <a:latin typeface="Arial"/>
                <a:ea typeface="Arial"/>
                <a:cs typeface="Arial"/>
                <a:sym typeface="Arial"/>
              </a:rPr>
              <a:t>Hai bộ phát hiện đối chiếu vị trí và lớp đối tượng trong ảnh.</a:t>
            </a:r>
            <a:endParaRPr/>
          </a:p>
        </p:txBody>
      </p:sp>
      <p:sp>
        <p:nvSpPr>
          <p:cNvPr id="112" name="Google Shape;112;p11"/>
          <p:cNvSpPr/>
          <p:nvPr/>
        </p:nvSpPr>
        <p:spPr>
          <a:xfrm>
            <a:off x="6096000" y="2305050"/>
            <a:ext cx="19050" cy="167640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 name="Google Shape;113;p11"/>
          <p:cNvSpPr/>
          <p:nvPr/>
        </p:nvSpPr>
        <p:spPr>
          <a:xfrm>
            <a:off x="6591300" y="2324100"/>
            <a:ext cx="2476500" cy="381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025">
                <a:solidFill>
                  <a:srgbClr val="43D6B2"/>
                </a:solidFill>
                <a:latin typeface="Arial"/>
                <a:ea typeface="Arial"/>
                <a:cs typeface="Arial"/>
                <a:sym typeface="Arial"/>
              </a:rPr>
              <a:t>Segmentation</a:t>
            </a:r>
            <a:endParaRPr/>
          </a:p>
        </p:txBody>
      </p:sp>
      <p:sp>
        <p:nvSpPr>
          <p:cNvPr id="114" name="Google Shape;114;p11"/>
          <p:cNvSpPr/>
          <p:nvPr/>
        </p:nvSpPr>
        <p:spPr>
          <a:xfrm>
            <a:off x="6591300" y="2781300"/>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75">
                <a:solidFill>
                  <a:srgbClr val="F2F5FA"/>
                </a:solidFill>
                <a:latin typeface="Arial"/>
                <a:ea typeface="Arial"/>
                <a:cs typeface="Arial"/>
                <a:sym typeface="Arial"/>
              </a:rPr>
              <a:t>YOLO26x-Seg + SAM 2.1 Large</a:t>
            </a:r>
            <a:endParaRPr/>
          </a:p>
        </p:txBody>
      </p:sp>
      <p:sp>
        <p:nvSpPr>
          <p:cNvPr id="115" name="Google Shape;115;p11"/>
          <p:cNvSpPr/>
          <p:nvPr/>
        </p:nvSpPr>
        <p:spPr>
          <a:xfrm>
            <a:off x="6591300" y="3305175"/>
            <a:ext cx="4429125"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75">
                <a:solidFill>
                  <a:srgbClr val="A9B6C8"/>
                </a:solidFill>
                <a:latin typeface="Arial"/>
                <a:ea typeface="Arial"/>
                <a:cs typeface="Arial"/>
                <a:sym typeface="Arial"/>
              </a:rPr>
              <a:t>Nhánh phân đoạn xử lý mask theo cấu hình mô hình.</a:t>
            </a:r>
            <a:endParaRPr/>
          </a:p>
        </p:txBody>
      </p:sp>
      <p:sp>
        <p:nvSpPr>
          <p:cNvPr id="116" name="Google Shape;116;p11"/>
          <p:cNvSpPr/>
          <p:nvPr/>
        </p:nvSpPr>
        <p:spPr>
          <a:xfrm>
            <a:off x="838200" y="4419600"/>
            <a:ext cx="10515600" cy="1066800"/>
          </a:xfrm>
          <a:prstGeom prst="roundRect">
            <a:avLst>
              <a:gd fmla="val 7143" name="adj"/>
            </a:avLst>
          </a:prstGeom>
          <a:solidFill>
            <a:srgbClr val="151F2D"/>
          </a:solidFill>
          <a:ln cap="flat" cmpd="sng" w="9525">
            <a:solidFill>
              <a:srgbClr val="2A39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7" name="Google Shape;117;p11"/>
          <p:cNvSpPr/>
          <p:nvPr/>
        </p:nvSpPr>
        <p:spPr>
          <a:xfrm>
            <a:off x="1104900" y="4562475"/>
            <a:ext cx="2952750" cy="30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725">
                <a:solidFill>
                  <a:srgbClr val="F5BE4F"/>
                </a:solidFill>
                <a:latin typeface="Arial"/>
                <a:ea typeface="Arial"/>
                <a:cs typeface="Arial"/>
                <a:sym typeface="Arial"/>
              </a:rPr>
              <a:t>Gemini 3.8 Flash</a:t>
            </a:r>
            <a:endParaRPr/>
          </a:p>
        </p:txBody>
      </p:sp>
      <p:sp>
        <p:nvSpPr>
          <p:cNvPr id="118" name="Google Shape;118;p11"/>
          <p:cNvSpPr/>
          <p:nvPr/>
        </p:nvSpPr>
        <p:spPr>
          <a:xfrm>
            <a:off x="1104900" y="4953000"/>
            <a:ext cx="9525000" cy="3619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75">
                <a:solidFill>
                  <a:srgbClr val="F2F5FA"/>
                </a:solidFill>
                <a:latin typeface="Arial"/>
                <a:ea typeface="Arial"/>
                <a:cs typeface="Arial"/>
                <a:sym typeface="Arial"/>
              </a:rPr>
              <a:t>Phân tích ảnh và guideline để làm rõ candidate cho reviewer xác nhận.</a:t>
            </a:r>
            <a:endParaRPr/>
          </a:p>
        </p:txBody>
      </p:sp>
      <p:sp>
        <p:nvSpPr>
          <p:cNvPr id="119" name="Google Shape;119;p11"/>
          <p:cNvSpPr/>
          <p:nvPr/>
        </p:nvSpPr>
        <p:spPr>
          <a:xfrm>
            <a:off x="838200" y="5724525"/>
            <a:ext cx="105156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275">
                <a:solidFill>
                  <a:srgbClr val="A9B6C8"/>
                </a:solidFill>
                <a:latin typeface="Arial"/>
                <a:ea typeface="Arial"/>
                <a:cs typeface="Arial"/>
                <a:sym typeface="Arial"/>
              </a:rPr>
              <a:t>Ngưỡng cụ thể lấy theo guideline và cấu hình dự án.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6"/>
        </a:solidFill>
      </p:bgPr>
    </p:bg>
    <p:spTree>
      <p:nvGrpSpPr>
        <p:cNvPr id="124" name="Shape 124"/>
        <p:cNvGrpSpPr/>
        <p:nvPr/>
      </p:nvGrpSpPr>
      <p:grpSpPr>
        <a:xfrm>
          <a:off x="0" y="0"/>
          <a:ext cx="0" cy="0"/>
          <a:chOff x="0" y="0"/>
          <a:chExt cx="0" cy="0"/>
        </a:xfrm>
      </p:grpSpPr>
      <p:sp>
        <p:nvSpPr>
          <p:cNvPr id="125" name="Google Shape;125;p12"/>
          <p:cNvSpPr/>
          <p:nvPr/>
        </p:nvSpPr>
        <p:spPr>
          <a:xfrm>
            <a:off x="685800" y="304800"/>
            <a:ext cx="3810000" cy="209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43D6B2"/>
                </a:solidFill>
                <a:latin typeface="Arial"/>
                <a:ea typeface="Arial"/>
                <a:cs typeface="Arial"/>
                <a:sym typeface="Arial"/>
              </a:rPr>
              <a:t>QC MINI  /  VALUE</a:t>
            </a:r>
            <a:endParaRPr/>
          </a:p>
        </p:txBody>
      </p:sp>
      <p:sp>
        <p:nvSpPr>
          <p:cNvPr id="126" name="Google Shape;126;p12"/>
          <p:cNvSpPr/>
          <p:nvPr/>
        </p:nvSpPr>
        <p:spPr>
          <a:xfrm>
            <a:off x="685800" y="609600"/>
            <a:ext cx="108204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50">
                <a:solidFill>
                  <a:srgbClr val="F2F5FA"/>
                </a:solidFill>
                <a:latin typeface="Arial"/>
                <a:ea typeface="Arial"/>
                <a:cs typeface="Arial"/>
                <a:sym typeface="Arial"/>
              </a:rPr>
              <a:t>QC mini hỗ trợ nhóm review</a:t>
            </a:r>
            <a:endParaRPr/>
          </a:p>
        </p:txBody>
      </p:sp>
      <p:sp>
        <p:nvSpPr>
          <p:cNvPr id="127" name="Google Shape;127;p12"/>
          <p:cNvSpPr/>
          <p:nvPr/>
        </p:nvSpPr>
        <p:spPr>
          <a:xfrm>
            <a:off x="685800" y="1200150"/>
            <a:ext cx="10820400"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 name="Google Shape;128;p12"/>
          <p:cNvSpPr/>
          <p:nvPr/>
        </p:nvSpPr>
        <p:spPr>
          <a:xfrm>
            <a:off x="781050" y="1809750"/>
            <a:ext cx="5095875"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75">
                <a:solidFill>
                  <a:srgbClr val="F2F5FA"/>
                </a:solidFill>
                <a:latin typeface="Arial"/>
                <a:ea typeface="Arial"/>
                <a:cs typeface="Arial"/>
                <a:sym typeface="Arial"/>
              </a:rPr>
              <a:t>Tập trung vào trường hợp đáng chú ý</a:t>
            </a:r>
            <a:endParaRPr/>
          </a:p>
        </p:txBody>
      </p:sp>
      <p:sp>
        <p:nvSpPr>
          <p:cNvPr id="129" name="Google Shape;129;p12"/>
          <p:cNvSpPr/>
          <p:nvPr/>
        </p:nvSpPr>
        <p:spPr>
          <a:xfrm>
            <a:off x="781050" y="2409825"/>
            <a:ext cx="4905375"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650">
                <a:solidFill>
                  <a:srgbClr val="A9B6C8"/>
                </a:solidFill>
                <a:latin typeface="Arial"/>
                <a:ea typeface="Arial"/>
                <a:cs typeface="Arial"/>
                <a:sym typeface="Arial"/>
              </a:rPr>
              <a:t>Review candidate giúp reviewer ưu tiên các frame có khác biệt giữa nhãn và dự đoán.</a:t>
            </a:r>
            <a:endParaRPr/>
          </a:p>
        </p:txBody>
      </p:sp>
      <p:sp>
        <p:nvSpPr>
          <p:cNvPr id="130" name="Google Shape;130;p12"/>
          <p:cNvSpPr/>
          <p:nvPr/>
        </p:nvSpPr>
        <p:spPr>
          <a:xfrm>
            <a:off x="6286500" y="1790700"/>
            <a:ext cx="19050" cy="35242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12"/>
          <p:cNvSpPr/>
          <p:nvPr/>
        </p:nvSpPr>
        <p:spPr>
          <a:xfrm>
            <a:off x="6762750" y="1809750"/>
            <a:ext cx="4667250"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100">
                <a:solidFill>
                  <a:srgbClr val="43D6B2"/>
                </a:solidFill>
                <a:latin typeface="Arial"/>
                <a:ea typeface="Arial"/>
                <a:cs typeface="Arial"/>
                <a:sym typeface="Arial"/>
              </a:rPr>
              <a:t>Có bằng chứng khi ra quyết định</a:t>
            </a:r>
            <a:endParaRPr/>
          </a:p>
        </p:txBody>
      </p:sp>
      <p:sp>
        <p:nvSpPr>
          <p:cNvPr id="132" name="Google Shape;132;p12"/>
          <p:cNvSpPr/>
          <p:nvPr/>
        </p:nvSpPr>
        <p:spPr>
          <a:xfrm>
            <a:off x="6762750" y="2409825"/>
            <a:ext cx="447675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650">
                <a:solidFill>
                  <a:srgbClr val="A9B6C8"/>
                </a:solidFill>
                <a:latin typeface="Arial"/>
                <a:ea typeface="Arial"/>
                <a:cs typeface="Arial"/>
                <a:sym typeface="Arial"/>
              </a:rPr>
              <a:t>Xem ảnh, vùng đánh dấu, lý do và guideline liên quan ngay trong workspace.</a:t>
            </a:r>
            <a:endParaRPr/>
          </a:p>
        </p:txBody>
      </p:sp>
      <p:sp>
        <p:nvSpPr>
          <p:cNvPr id="133" name="Google Shape;133;p12"/>
          <p:cNvSpPr/>
          <p:nvPr/>
        </p:nvSpPr>
        <p:spPr>
          <a:xfrm>
            <a:off x="781050" y="5276850"/>
            <a:ext cx="10096500" cy="60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725">
                <a:solidFill>
                  <a:srgbClr val="8B78FF"/>
                </a:solidFill>
                <a:latin typeface="Arial"/>
                <a:ea typeface="Arial"/>
                <a:cs typeface="Arial"/>
                <a:sym typeface="Arial"/>
              </a:rPr>
              <a:t>Kết quả có thể xuất thành báo cáo Markdown, issue CSV và bản nháp guideline.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6"/>
        </a:solidFill>
      </p:bgPr>
    </p:bg>
    <p:spTree>
      <p:nvGrpSpPr>
        <p:cNvPr id="138" name="Shape 138"/>
        <p:cNvGrpSpPr/>
        <p:nvPr/>
      </p:nvGrpSpPr>
      <p:grpSpPr>
        <a:xfrm>
          <a:off x="0" y="0"/>
          <a:ext cx="0" cy="0"/>
          <a:chOff x="0" y="0"/>
          <a:chExt cx="0" cy="0"/>
        </a:xfrm>
      </p:grpSpPr>
      <p:sp>
        <p:nvSpPr>
          <p:cNvPr id="139" name="Google Shape;139;p13"/>
          <p:cNvSpPr/>
          <p:nvPr/>
        </p:nvSpPr>
        <p:spPr>
          <a:xfrm>
            <a:off x="685800" y="304800"/>
            <a:ext cx="3810000" cy="209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43D6B2"/>
                </a:solidFill>
                <a:latin typeface="Arial"/>
                <a:ea typeface="Arial"/>
                <a:cs typeface="Arial"/>
                <a:sym typeface="Arial"/>
              </a:rPr>
              <a:t>QC MINI  /  BENEFITS</a:t>
            </a:r>
            <a:endParaRPr/>
          </a:p>
        </p:txBody>
      </p:sp>
      <p:sp>
        <p:nvSpPr>
          <p:cNvPr id="140" name="Google Shape;140;p13"/>
          <p:cNvSpPr/>
          <p:nvPr/>
        </p:nvSpPr>
        <p:spPr>
          <a:xfrm>
            <a:off x="685800" y="609600"/>
            <a:ext cx="108204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50">
                <a:solidFill>
                  <a:srgbClr val="F2F5FA"/>
                </a:solidFill>
                <a:latin typeface="Arial"/>
                <a:ea typeface="Arial"/>
                <a:cs typeface="Arial"/>
                <a:sym typeface="Arial"/>
              </a:rPr>
              <a:t>Điểm nổi bật</a:t>
            </a:r>
            <a:endParaRPr/>
          </a:p>
        </p:txBody>
      </p:sp>
      <p:sp>
        <p:nvSpPr>
          <p:cNvPr id="141" name="Google Shape;141;p13"/>
          <p:cNvSpPr/>
          <p:nvPr/>
        </p:nvSpPr>
        <p:spPr>
          <a:xfrm>
            <a:off x="685800" y="1200150"/>
            <a:ext cx="10820400"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2" name="Google Shape;142;p13"/>
          <p:cNvSpPr/>
          <p:nvPr/>
        </p:nvSpPr>
        <p:spPr>
          <a:xfrm>
            <a:off x="838200" y="1657350"/>
            <a:ext cx="666750" cy="438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250">
                <a:solidFill>
                  <a:srgbClr val="8B78FF"/>
                </a:solidFill>
                <a:latin typeface="Arial"/>
                <a:ea typeface="Arial"/>
                <a:cs typeface="Arial"/>
                <a:sym typeface="Arial"/>
              </a:rPr>
              <a:t>01</a:t>
            </a:r>
            <a:endParaRPr/>
          </a:p>
        </p:txBody>
      </p:sp>
      <p:sp>
        <p:nvSpPr>
          <p:cNvPr id="143" name="Google Shape;143;p13"/>
          <p:cNvSpPr/>
          <p:nvPr/>
        </p:nvSpPr>
        <p:spPr>
          <a:xfrm>
            <a:off x="1676400" y="1657350"/>
            <a:ext cx="3524250" cy="400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F2F5FA"/>
                </a:solidFill>
                <a:latin typeface="Arial"/>
                <a:ea typeface="Arial"/>
                <a:cs typeface="Arial"/>
                <a:sym typeface="Arial"/>
              </a:rPr>
              <a:t>Rà soát nhanh hơn</a:t>
            </a:r>
            <a:endParaRPr/>
          </a:p>
        </p:txBody>
      </p:sp>
      <p:sp>
        <p:nvSpPr>
          <p:cNvPr id="144" name="Google Shape;144;p13"/>
          <p:cNvSpPr/>
          <p:nvPr/>
        </p:nvSpPr>
        <p:spPr>
          <a:xfrm>
            <a:off x="5429250" y="1657350"/>
            <a:ext cx="5810250"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75">
                <a:solidFill>
                  <a:srgbClr val="A9B6C8"/>
                </a:solidFill>
                <a:latin typeface="Arial"/>
                <a:ea typeface="Arial"/>
                <a:cs typeface="Arial"/>
                <a:sym typeface="Arial"/>
              </a:rPr>
              <a:t>Ưu tiên frame có candidate để reviewer tập trung vào nơi cần chú ý.</a:t>
            </a:r>
            <a:endParaRPr/>
          </a:p>
        </p:txBody>
      </p:sp>
      <p:sp>
        <p:nvSpPr>
          <p:cNvPr id="145" name="Google Shape;145;p13"/>
          <p:cNvSpPr/>
          <p:nvPr/>
        </p:nvSpPr>
        <p:spPr>
          <a:xfrm>
            <a:off x="1676400" y="2324100"/>
            <a:ext cx="9677400"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 name="Google Shape;146;p13"/>
          <p:cNvSpPr/>
          <p:nvPr/>
        </p:nvSpPr>
        <p:spPr>
          <a:xfrm>
            <a:off x="838200" y="2724150"/>
            <a:ext cx="666750" cy="438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250">
                <a:solidFill>
                  <a:srgbClr val="43D6B2"/>
                </a:solidFill>
                <a:latin typeface="Arial"/>
                <a:ea typeface="Arial"/>
                <a:cs typeface="Arial"/>
                <a:sym typeface="Arial"/>
              </a:rPr>
              <a:t>02</a:t>
            </a:r>
            <a:endParaRPr/>
          </a:p>
        </p:txBody>
      </p:sp>
      <p:sp>
        <p:nvSpPr>
          <p:cNvPr id="147" name="Google Shape;147;p13"/>
          <p:cNvSpPr/>
          <p:nvPr/>
        </p:nvSpPr>
        <p:spPr>
          <a:xfrm>
            <a:off x="1676400" y="2724150"/>
            <a:ext cx="3524250" cy="400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F2F5FA"/>
                </a:solidFill>
                <a:latin typeface="Arial"/>
                <a:ea typeface="Arial"/>
                <a:cs typeface="Arial"/>
                <a:sym typeface="Arial"/>
              </a:rPr>
              <a:t>Kiểm tra nhất quán hơn</a:t>
            </a:r>
            <a:endParaRPr/>
          </a:p>
        </p:txBody>
      </p:sp>
      <p:sp>
        <p:nvSpPr>
          <p:cNvPr id="148" name="Google Shape;148;p13"/>
          <p:cNvSpPr/>
          <p:nvPr/>
        </p:nvSpPr>
        <p:spPr>
          <a:xfrm>
            <a:off x="5429250" y="2724150"/>
            <a:ext cx="5810250" cy="590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75">
                <a:solidFill>
                  <a:srgbClr val="A9B6C8"/>
                </a:solidFill>
                <a:latin typeface="Arial"/>
                <a:ea typeface="Arial"/>
                <a:cs typeface="Arial"/>
                <a:sym typeface="Arial"/>
              </a:rPr>
              <a:t>Rule theo guideline kết hợp kết quả model giúp nhận diện lỗi như box nhỏ hoặc box trùng.</a:t>
            </a:r>
            <a:endParaRPr/>
          </a:p>
        </p:txBody>
      </p:sp>
      <p:sp>
        <p:nvSpPr>
          <p:cNvPr id="149" name="Google Shape;149;p13"/>
          <p:cNvSpPr/>
          <p:nvPr/>
        </p:nvSpPr>
        <p:spPr>
          <a:xfrm>
            <a:off x="1676400" y="3505200"/>
            <a:ext cx="9677400"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 name="Google Shape;150;p13"/>
          <p:cNvSpPr/>
          <p:nvPr/>
        </p:nvSpPr>
        <p:spPr>
          <a:xfrm>
            <a:off x="838200" y="3905250"/>
            <a:ext cx="666750" cy="438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250">
                <a:solidFill>
                  <a:srgbClr val="58B7F5"/>
                </a:solidFill>
                <a:latin typeface="Arial"/>
                <a:ea typeface="Arial"/>
                <a:cs typeface="Arial"/>
                <a:sym typeface="Arial"/>
              </a:rPr>
              <a:t>03</a:t>
            </a:r>
            <a:endParaRPr/>
          </a:p>
        </p:txBody>
      </p:sp>
      <p:sp>
        <p:nvSpPr>
          <p:cNvPr id="151" name="Google Shape;151;p13"/>
          <p:cNvSpPr/>
          <p:nvPr/>
        </p:nvSpPr>
        <p:spPr>
          <a:xfrm>
            <a:off x="1676400" y="3905250"/>
            <a:ext cx="3524250" cy="400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950">
                <a:solidFill>
                  <a:srgbClr val="F2F5FA"/>
                </a:solidFill>
                <a:latin typeface="Arial"/>
                <a:ea typeface="Arial"/>
                <a:cs typeface="Arial"/>
                <a:sym typeface="Arial"/>
              </a:rPr>
              <a:t>Quyết định có căn cứ</a:t>
            </a:r>
            <a:endParaRPr/>
          </a:p>
        </p:txBody>
      </p:sp>
      <p:sp>
        <p:nvSpPr>
          <p:cNvPr id="152" name="Google Shape;152;p13"/>
          <p:cNvSpPr/>
          <p:nvPr/>
        </p:nvSpPr>
        <p:spPr>
          <a:xfrm>
            <a:off x="5429250" y="3905250"/>
            <a:ext cx="5810250" cy="590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575">
                <a:solidFill>
                  <a:srgbClr val="A9B6C8"/>
                </a:solidFill>
                <a:latin typeface="Arial"/>
                <a:ea typeface="Arial"/>
                <a:cs typeface="Arial"/>
                <a:sym typeface="Arial"/>
              </a:rPr>
              <a:t>Reviewer xem ảnh, vùng đánh dấu và lý do trước khi xác nhận candidate.</a:t>
            </a:r>
            <a:endParaRPr/>
          </a:p>
        </p:txBody>
      </p:sp>
      <p:sp>
        <p:nvSpPr>
          <p:cNvPr id="153" name="Google Shape;153;p13"/>
          <p:cNvSpPr/>
          <p:nvPr/>
        </p:nvSpPr>
        <p:spPr>
          <a:xfrm>
            <a:off x="1676400" y="4991100"/>
            <a:ext cx="9677400" cy="628650"/>
          </a:xfrm>
          <a:prstGeom prst="roundRect">
            <a:avLst>
              <a:gd fmla="val 12121" name="adj"/>
            </a:avLst>
          </a:prstGeom>
          <a:solidFill>
            <a:srgbClr val="132820"/>
          </a:solidFill>
          <a:ln cap="flat" cmpd="sng" w="9525">
            <a:solidFill>
              <a:srgbClr val="285B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4" name="Google Shape;154;p13"/>
          <p:cNvSpPr/>
          <p:nvPr/>
        </p:nvSpPr>
        <p:spPr>
          <a:xfrm>
            <a:off x="1924050" y="5124450"/>
            <a:ext cx="9182100" cy="34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575">
                <a:solidFill>
                  <a:srgbClr val="42D7A3"/>
                </a:solidFill>
                <a:latin typeface="Arial"/>
                <a:ea typeface="Arial"/>
                <a:cs typeface="Arial"/>
                <a:sym typeface="Arial"/>
              </a:rPr>
              <a:t>AI hỗ trợ phát hiện. Reviewer xác nhận kết quả.</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6"/>
        </a:solidFill>
      </p:bgPr>
    </p:bg>
    <p:spTree>
      <p:nvGrpSpPr>
        <p:cNvPr id="159" name="Shape 159"/>
        <p:cNvGrpSpPr/>
        <p:nvPr/>
      </p:nvGrpSpPr>
      <p:grpSpPr>
        <a:xfrm>
          <a:off x="0" y="0"/>
          <a:ext cx="0" cy="0"/>
          <a:chOff x="0" y="0"/>
          <a:chExt cx="0" cy="0"/>
        </a:xfrm>
      </p:grpSpPr>
      <p:sp>
        <p:nvSpPr>
          <p:cNvPr id="160" name="Google Shape;160;p14"/>
          <p:cNvSpPr/>
          <p:nvPr/>
        </p:nvSpPr>
        <p:spPr>
          <a:xfrm>
            <a:off x="685800" y="304800"/>
            <a:ext cx="3810000" cy="209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43D6B2"/>
                </a:solidFill>
                <a:latin typeface="Arial"/>
                <a:ea typeface="Arial"/>
                <a:cs typeface="Arial"/>
                <a:sym typeface="Arial"/>
              </a:rPr>
              <a:t>QC MINI  /  DEMO</a:t>
            </a:r>
            <a:endParaRPr/>
          </a:p>
        </p:txBody>
      </p:sp>
      <p:sp>
        <p:nvSpPr>
          <p:cNvPr id="161" name="Google Shape;161;p14"/>
          <p:cNvSpPr/>
          <p:nvPr/>
        </p:nvSpPr>
        <p:spPr>
          <a:xfrm>
            <a:off x="685800" y="609600"/>
            <a:ext cx="108204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50">
                <a:solidFill>
                  <a:srgbClr val="F2F5FA"/>
                </a:solidFill>
                <a:latin typeface="Arial"/>
                <a:ea typeface="Arial"/>
                <a:cs typeface="Arial"/>
                <a:sym typeface="Arial"/>
              </a:rPr>
              <a:t>Chuẩn bị dataset và guideline</a:t>
            </a:r>
            <a:endParaRPr/>
          </a:p>
        </p:txBody>
      </p:sp>
      <p:sp>
        <p:nvSpPr>
          <p:cNvPr id="162" name="Google Shape;162;p14"/>
          <p:cNvSpPr/>
          <p:nvPr/>
        </p:nvSpPr>
        <p:spPr>
          <a:xfrm>
            <a:off x="685800" y="1200150"/>
            <a:ext cx="10820400"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3" name="Google Shape;163;p14"/>
          <p:cNvSpPr/>
          <p:nvPr/>
        </p:nvSpPr>
        <p:spPr>
          <a:xfrm>
            <a:off x="676275" y="1400175"/>
            <a:ext cx="10839450" cy="4781550"/>
          </a:xfrm>
          <a:prstGeom prst="roundRect">
            <a:avLst>
              <a:gd fmla="val 1594" name="adj"/>
            </a:avLst>
          </a:prstGeom>
          <a:solidFill>
            <a:srgbClr val="111925"/>
          </a:solidFill>
          <a:ln cap="flat" cmpd="sng" w="9525">
            <a:solidFill>
              <a:srgbClr val="2A39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64" name="Google Shape;164;p14"/>
          <p:cNvPicPr preferRelativeResize="0"/>
          <p:nvPr/>
        </p:nvPicPr>
        <p:blipFill rotWithShape="1">
          <a:blip r:embed="rId3">
            <a:alphaModFix/>
          </a:blip>
          <a:srcRect b="0" l="0" r="0" t="0"/>
          <a:stretch/>
        </p:blipFill>
        <p:spPr>
          <a:xfrm>
            <a:off x="1263727" y="1485900"/>
            <a:ext cx="9664547" cy="4610100"/>
          </a:xfrm>
          <a:prstGeom prst="rect">
            <a:avLst/>
          </a:prstGeom>
          <a:noFill/>
          <a:ln>
            <a:noFill/>
          </a:ln>
        </p:spPr>
      </p:pic>
      <p:sp>
        <p:nvSpPr>
          <p:cNvPr id="165" name="Google Shape;165;p14"/>
          <p:cNvSpPr/>
          <p:nvPr/>
        </p:nvSpPr>
        <p:spPr>
          <a:xfrm>
            <a:off x="723900" y="6305550"/>
            <a:ext cx="107442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A9B6C8"/>
                </a:solidFill>
                <a:latin typeface="Arial"/>
                <a:ea typeface="Arial"/>
                <a:cs typeface="Arial"/>
                <a:sym typeface="Arial"/>
              </a:rPr>
              <a:t>Một màn hình cho dataset, guideline và cấu hình kết nối CVAT.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6"/>
        </a:solidFill>
      </p:bgPr>
    </p:bg>
    <p:spTree>
      <p:nvGrpSpPr>
        <p:cNvPr id="170" name="Shape 170"/>
        <p:cNvGrpSpPr/>
        <p:nvPr/>
      </p:nvGrpSpPr>
      <p:grpSpPr>
        <a:xfrm>
          <a:off x="0" y="0"/>
          <a:ext cx="0" cy="0"/>
          <a:chOff x="0" y="0"/>
          <a:chExt cx="0" cy="0"/>
        </a:xfrm>
      </p:grpSpPr>
      <p:sp>
        <p:nvSpPr>
          <p:cNvPr id="171" name="Google Shape;171;p15"/>
          <p:cNvSpPr/>
          <p:nvPr/>
        </p:nvSpPr>
        <p:spPr>
          <a:xfrm>
            <a:off x="685800" y="304800"/>
            <a:ext cx="3810000" cy="209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43D6B2"/>
                </a:solidFill>
                <a:latin typeface="Arial"/>
                <a:ea typeface="Arial"/>
                <a:cs typeface="Arial"/>
                <a:sym typeface="Arial"/>
              </a:rPr>
              <a:t>QC MINI  /  DEMO</a:t>
            </a:r>
            <a:endParaRPr/>
          </a:p>
        </p:txBody>
      </p:sp>
      <p:sp>
        <p:nvSpPr>
          <p:cNvPr id="172" name="Google Shape;172;p15"/>
          <p:cNvSpPr/>
          <p:nvPr/>
        </p:nvSpPr>
        <p:spPr>
          <a:xfrm>
            <a:off x="685800" y="609600"/>
            <a:ext cx="108204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50">
                <a:solidFill>
                  <a:srgbClr val="F2F5FA"/>
                </a:solidFill>
                <a:latin typeface="Arial"/>
                <a:ea typeface="Arial"/>
                <a:cs typeface="Arial"/>
                <a:sym typeface="Arial"/>
              </a:rPr>
              <a:t>Kết nối CVAT job</a:t>
            </a:r>
            <a:endParaRPr/>
          </a:p>
        </p:txBody>
      </p:sp>
      <p:sp>
        <p:nvSpPr>
          <p:cNvPr id="173" name="Google Shape;173;p15"/>
          <p:cNvSpPr/>
          <p:nvPr/>
        </p:nvSpPr>
        <p:spPr>
          <a:xfrm>
            <a:off x="685800" y="1200150"/>
            <a:ext cx="10820400"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 name="Google Shape;174;p15"/>
          <p:cNvSpPr/>
          <p:nvPr/>
        </p:nvSpPr>
        <p:spPr>
          <a:xfrm>
            <a:off x="676275" y="1400175"/>
            <a:ext cx="10839450" cy="4781550"/>
          </a:xfrm>
          <a:prstGeom prst="roundRect">
            <a:avLst>
              <a:gd fmla="val 1594" name="adj"/>
            </a:avLst>
          </a:prstGeom>
          <a:solidFill>
            <a:srgbClr val="111925"/>
          </a:solidFill>
          <a:ln cap="flat" cmpd="sng" w="9525">
            <a:solidFill>
              <a:srgbClr val="2A39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75" name="Google Shape;175;p15"/>
          <p:cNvPicPr preferRelativeResize="0"/>
          <p:nvPr/>
        </p:nvPicPr>
        <p:blipFill rotWithShape="1">
          <a:blip r:embed="rId3">
            <a:alphaModFix/>
          </a:blip>
          <a:srcRect b="0" l="0" r="0" t="0"/>
          <a:stretch/>
        </p:blipFill>
        <p:spPr>
          <a:xfrm>
            <a:off x="762000" y="2622470"/>
            <a:ext cx="10668000" cy="2336961"/>
          </a:xfrm>
          <a:prstGeom prst="rect">
            <a:avLst/>
          </a:prstGeom>
          <a:noFill/>
          <a:ln>
            <a:noFill/>
          </a:ln>
        </p:spPr>
      </p:pic>
      <p:sp>
        <p:nvSpPr>
          <p:cNvPr id="176" name="Google Shape;176;p15"/>
          <p:cNvSpPr/>
          <p:nvPr/>
        </p:nvSpPr>
        <p:spPr>
          <a:xfrm>
            <a:off x="723900" y="6305550"/>
            <a:ext cx="107442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A9B6C8"/>
                </a:solidFill>
                <a:latin typeface="Arial"/>
                <a:ea typeface="Arial"/>
                <a:cs typeface="Arial"/>
                <a:sym typeface="Arial"/>
              </a:rPr>
              <a:t>Chọn job đã kết nối để mở review hoặc nạp dữ liệu vào workspace.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6"/>
        </a:solidFill>
      </p:bgPr>
    </p:bg>
    <p:spTree>
      <p:nvGrpSpPr>
        <p:cNvPr id="181" name="Shape 181"/>
        <p:cNvGrpSpPr/>
        <p:nvPr/>
      </p:nvGrpSpPr>
      <p:grpSpPr>
        <a:xfrm>
          <a:off x="0" y="0"/>
          <a:ext cx="0" cy="0"/>
          <a:chOff x="0" y="0"/>
          <a:chExt cx="0" cy="0"/>
        </a:xfrm>
      </p:grpSpPr>
      <p:sp>
        <p:nvSpPr>
          <p:cNvPr id="182" name="Google Shape;182;p16"/>
          <p:cNvSpPr/>
          <p:nvPr/>
        </p:nvSpPr>
        <p:spPr>
          <a:xfrm>
            <a:off x="685800" y="304800"/>
            <a:ext cx="3810000" cy="209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43D6B2"/>
                </a:solidFill>
                <a:latin typeface="Arial"/>
                <a:ea typeface="Arial"/>
                <a:cs typeface="Arial"/>
                <a:sym typeface="Arial"/>
              </a:rPr>
              <a:t>QC MINI  /  DEMO</a:t>
            </a:r>
            <a:endParaRPr/>
          </a:p>
        </p:txBody>
      </p:sp>
      <p:sp>
        <p:nvSpPr>
          <p:cNvPr id="183" name="Google Shape;183;p16"/>
          <p:cNvSpPr/>
          <p:nvPr/>
        </p:nvSpPr>
        <p:spPr>
          <a:xfrm>
            <a:off x="685800" y="609600"/>
            <a:ext cx="108204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50">
                <a:solidFill>
                  <a:srgbClr val="F2F5FA"/>
                </a:solidFill>
                <a:latin typeface="Arial"/>
                <a:ea typeface="Arial"/>
                <a:cs typeface="Arial"/>
                <a:sym typeface="Arial"/>
              </a:rPr>
              <a:t>Chạy QC và Gemini</a:t>
            </a:r>
            <a:endParaRPr/>
          </a:p>
        </p:txBody>
      </p:sp>
      <p:sp>
        <p:nvSpPr>
          <p:cNvPr id="184" name="Google Shape;184;p16"/>
          <p:cNvSpPr/>
          <p:nvPr/>
        </p:nvSpPr>
        <p:spPr>
          <a:xfrm>
            <a:off x="685800" y="1200150"/>
            <a:ext cx="10820400"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 name="Google Shape;185;p16"/>
          <p:cNvSpPr/>
          <p:nvPr/>
        </p:nvSpPr>
        <p:spPr>
          <a:xfrm>
            <a:off x="676275" y="1400175"/>
            <a:ext cx="10839450" cy="4781550"/>
          </a:xfrm>
          <a:prstGeom prst="roundRect">
            <a:avLst>
              <a:gd fmla="val 1594" name="adj"/>
            </a:avLst>
          </a:prstGeom>
          <a:solidFill>
            <a:srgbClr val="111925"/>
          </a:solidFill>
          <a:ln cap="flat" cmpd="sng" w="9525">
            <a:solidFill>
              <a:srgbClr val="2A39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86" name="Google Shape;186;p16"/>
          <p:cNvPicPr preferRelativeResize="0"/>
          <p:nvPr/>
        </p:nvPicPr>
        <p:blipFill rotWithShape="1">
          <a:blip r:embed="rId3">
            <a:alphaModFix/>
          </a:blip>
          <a:srcRect b="0" l="0" r="0" t="0"/>
          <a:stretch/>
        </p:blipFill>
        <p:spPr>
          <a:xfrm>
            <a:off x="850498" y="1485900"/>
            <a:ext cx="10491003" cy="4610100"/>
          </a:xfrm>
          <a:prstGeom prst="rect">
            <a:avLst/>
          </a:prstGeom>
          <a:noFill/>
          <a:ln>
            <a:noFill/>
          </a:ln>
        </p:spPr>
      </p:pic>
      <p:sp>
        <p:nvSpPr>
          <p:cNvPr id="187" name="Google Shape;187;p16"/>
          <p:cNvSpPr/>
          <p:nvPr/>
        </p:nvSpPr>
        <p:spPr>
          <a:xfrm>
            <a:off x="723900" y="6305550"/>
            <a:ext cx="107442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A9B6C8"/>
                </a:solidFill>
                <a:latin typeface="Arial"/>
                <a:ea typeface="Arial"/>
                <a:cs typeface="Arial"/>
                <a:sym typeface="Arial"/>
              </a:rPr>
              <a:t>Bật Gemini vision và giới hạn số frame gửi phân tích khi cần.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6"/>
        </a:solidFill>
      </p:bgPr>
    </p:bg>
    <p:spTree>
      <p:nvGrpSpPr>
        <p:cNvPr id="192" name="Shape 192"/>
        <p:cNvGrpSpPr/>
        <p:nvPr/>
      </p:nvGrpSpPr>
      <p:grpSpPr>
        <a:xfrm>
          <a:off x="0" y="0"/>
          <a:ext cx="0" cy="0"/>
          <a:chOff x="0" y="0"/>
          <a:chExt cx="0" cy="0"/>
        </a:xfrm>
      </p:grpSpPr>
      <p:sp>
        <p:nvSpPr>
          <p:cNvPr id="193" name="Google Shape;193;p17"/>
          <p:cNvSpPr/>
          <p:nvPr/>
        </p:nvSpPr>
        <p:spPr>
          <a:xfrm>
            <a:off x="685800" y="304800"/>
            <a:ext cx="3810000" cy="209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43D6B2"/>
                </a:solidFill>
                <a:latin typeface="Arial"/>
                <a:ea typeface="Arial"/>
                <a:cs typeface="Arial"/>
                <a:sym typeface="Arial"/>
              </a:rPr>
              <a:t>QC MINI  /  DEMO</a:t>
            </a:r>
            <a:endParaRPr/>
          </a:p>
        </p:txBody>
      </p:sp>
      <p:sp>
        <p:nvSpPr>
          <p:cNvPr id="194" name="Google Shape;194;p17"/>
          <p:cNvSpPr/>
          <p:nvPr/>
        </p:nvSpPr>
        <p:spPr>
          <a:xfrm>
            <a:off x="685800" y="609600"/>
            <a:ext cx="108204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50">
                <a:solidFill>
                  <a:srgbClr val="F2F5FA"/>
                </a:solidFill>
                <a:latin typeface="Arial"/>
                <a:ea typeface="Arial"/>
                <a:cs typeface="Arial"/>
                <a:sym typeface="Arial"/>
              </a:rPr>
              <a:t>Review candidate</a:t>
            </a:r>
            <a:endParaRPr/>
          </a:p>
        </p:txBody>
      </p:sp>
      <p:sp>
        <p:nvSpPr>
          <p:cNvPr id="195" name="Google Shape;195;p17"/>
          <p:cNvSpPr/>
          <p:nvPr/>
        </p:nvSpPr>
        <p:spPr>
          <a:xfrm>
            <a:off x="685800" y="1200150"/>
            <a:ext cx="10820400"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6" name="Google Shape;196;p17"/>
          <p:cNvSpPr/>
          <p:nvPr/>
        </p:nvSpPr>
        <p:spPr>
          <a:xfrm>
            <a:off x="676275" y="1400175"/>
            <a:ext cx="10839450" cy="4781550"/>
          </a:xfrm>
          <a:prstGeom prst="roundRect">
            <a:avLst>
              <a:gd fmla="val 1594" name="adj"/>
            </a:avLst>
          </a:prstGeom>
          <a:solidFill>
            <a:srgbClr val="111925"/>
          </a:solidFill>
          <a:ln cap="flat" cmpd="sng" w="9525">
            <a:solidFill>
              <a:srgbClr val="2A39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97" name="Google Shape;197;p17"/>
          <p:cNvPicPr preferRelativeResize="0"/>
          <p:nvPr/>
        </p:nvPicPr>
        <p:blipFill rotWithShape="1">
          <a:blip r:embed="rId3">
            <a:alphaModFix/>
          </a:blip>
          <a:srcRect b="0" l="0" r="0" t="0"/>
          <a:stretch/>
        </p:blipFill>
        <p:spPr>
          <a:xfrm>
            <a:off x="1235131" y="1485900"/>
            <a:ext cx="9721738" cy="4610100"/>
          </a:xfrm>
          <a:prstGeom prst="rect">
            <a:avLst/>
          </a:prstGeom>
          <a:noFill/>
          <a:ln>
            <a:noFill/>
          </a:ln>
        </p:spPr>
      </p:pic>
      <p:sp>
        <p:nvSpPr>
          <p:cNvPr id="198" name="Google Shape;198;p17"/>
          <p:cNvSpPr/>
          <p:nvPr/>
        </p:nvSpPr>
        <p:spPr>
          <a:xfrm>
            <a:off x="723900" y="6305550"/>
            <a:ext cx="107442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A9B6C8"/>
                </a:solidFill>
                <a:latin typeface="Arial"/>
                <a:ea typeface="Arial"/>
                <a:cs typeface="Arial"/>
                <a:sym typeface="Arial"/>
              </a:rPr>
              <a:t>Xem vùng đánh dấu, lý do cảnh báo và quyết định giữ hoặc loại.</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6"/>
        </a:solidFill>
      </p:bgPr>
    </p:bg>
    <p:spTree>
      <p:nvGrpSpPr>
        <p:cNvPr id="203" name="Shape 203"/>
        <p:cNvGrpSpPr/>
        <p:nvPr/>
      </p:nvGrpSpPr>
      <p:grpSpPr>
        <a:xfrm>
          <a:off x="0" y="0"/>
          <a:ext cx="0" cy="0"/>
          <a:chOff x="0" y="0"/>
          <a:chExt cx="0" cy="0"/>
        </a:xfrm>
      </p:grpSpPr>
      <p:sp>
        <p:nvSpPr>
          <p:cNvPr id="204" name="Google Shape;204;p18"/>
          <p:cNvSpPr/>
          <p:nvPr/>
        </p:nvSpPr>
        <p:spPr>
          <a:xfrm>
            <a:off x="685800" y="304800"/>
            <a:ext cx="3810000" cy="209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43D6B2"/>
                </a:solidFill>
                <a:latin typeface="Arial"/>
                <a:ea typeface="Arial"/>
                <a:cs typeface="Arial"/>
                <a:sym typeface="Arial"/>
              </a:rPr>
              <a:t>QC MINI  /  DEMO</a:t>
            </a:r>
            <a:endParaRPr/>
          </a:p>
        </p:txBody>
      </p:sp>
      <p:sp>
        <p:nvSpPr>
          <p:cNvPr id="205" name="Google Shape;205;p18"/>
          <p:cNvSpPr/>
          <p:nvPr/>
        </p:nvSpPr>
        <p:spPr>
          <a:xfrm>
            <a:off x="685800" y="609600"/>
            <a:ext cx="108204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50">
                <a:solidFill>
                  <a:srgbClr val="F2F5FA"/>
                </a:solidFill>
                <a:latin typeface="Arial"/>
                <a:ea typeface="Arial"/>
                <a:cs typeface="Arial"/>
                <a:sym typeface="Arial"/>
              </a:rPr>
              <a:t>Gửi issue về CVAT</a:t>
            </a:r>
            <a:endParaRPr/>
          </a:p>
        </p:txBody>
      </p:sp>
      <p:sp>
        <p:nvSpPr>
          <p:cNvPr id="206" name="Google Shape;206;p18"/>
          <p:cNvSpPr/>
          <p:nvPr/>
        </p:nvSpPr>
        <p:spPr>
          <a:xfrm>
            <a:off x="685800" y="1200150"/>
            <a:ext cx="10820400"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 name="Google Shape;207;p18"/>
          <p:cNvSpPr/>
          <p:nvPr/>
        </p:nvSpPr>
        <p:spPr>
          <a:xfrm>
            <a:off x="676275" y="1400175"/>
            <a:ext cx="10839450" cy="4781550"/>
          </a:xfrm>
          <a:prstGeom prst="roundRect">
            <a:avLst>
              <a:gd fmla="val 1594" name="adj"/>
            </a:avLst>
          </a:prstGeom>
          <a:solidFill>
            <a:srgbClr val="111925"/>
          </a:solidFill>
          <a:ln cap="flat" cmpd="sng" w="9525">
            <a:solidFill>
              <a:srgbClr val="2A39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08" name="Google Shape;208;p18"/>
          <p:cNvPicPr preferRelativeResize="0"/>
          <p:nvPr/>
        </p:nvPicPr>
        <p:blipFill rotWithShape="1">
          <a:blip r:embed="rId3">
            <a:alphaModFix/>
          </a:blip>
          <a:srcRect b="0" l="0" r="0" t="0"/>
          <a:stretch/>
        </p:blipFill>
        <p:spPr>
          <a:xfrm>
            <a:off x="762000" y="2183519"/>
            <a:ext cx="10668000" cy="3214861"/>
          </a:xfrm>
          <a:prstGeom prst="rect">
            <a:avLst/>
          </a:prstGeom>
          <a:noFill/>
          <a:ln>
            <a:noFill/>
          </a:ln>
        </p:spPr>
      </p:pic>
      <p:sp>
        <p:nvSpPr>
          <p:cNvPr id="209" name="Google Shape;209;p18"/>
          <p:cNvSpPr/>
          <p:nvPr/>
        </p:nvSpPr>
        <p:spPr>
          <a:xfrm>
            <a:off x="723900" y="6305550"/>
            <a:ext cx="107442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A9B6C8"/>
                </a:solidFill>
                <a:latin typeface="Arial"/>
                <a:ea typeface="Arial"/>
                <a:cs typeface="Arial"/>
                <a:sym typeface="Arial"/>
              </a:rPr>
              <a:t>Issue đã chọn có thể gửi về job CVAT kèm thông tin frame.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6"/>
        </a:solidFill>
      </p:bgPr>
    </p:bg>
    <p:spTree>
      <p:nvGrpSpPr>
        <p:cNvPr id="214" name="Shape 214"/>
        <p:cNvGrpSpPr/>
        <p:nvPr/>
      </p:nvGrpSpPr>
      <p:grpSpPr>
        <a:xfrm>
          <a:off x="0" y="0"/>
          <a:ext cx="0" cy="0"/>
          <a:chOff x="0" y="0"/>
          <a:chExt cx="0" cy="0"/>
        </a:xfrm>
      </p:grpSpPr>
      <p:sp>
        <p:nvSpPr>
          <p:cNvPr id="215" name="Google Shape;215;p19"/>
          <p:cNvSpPr/>
          <p:nvPr/>
        </p:nvSpPr>
        <p:spPr>
          <a:xfrm>
            <a:off x="685800" y="304800"/>
            <a:ext cx="3810000" cy="209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43D6B2"/>
                </a:solidFill>
                <a:latin typeface="Arial"/>
                <a:ea typeface="Arial"/>
                <a:cs typeface="Arial"/>
                <a:sym typeface="Arial"/>
              </a:rPr>
              <a:t>QC MINI  /  DEMO</a:t>
            </a:r>
            <a:endParaRPr/>
          </a:p>
        </p:txBody>
      </p:sp>
      <p:sp>
        <p:nvSpPr>
          <p:cNvPr id="216" name="Google Shape;216;p19"/>
          <p:cNvSpPr/>
          <p:nvPr/>
        </p:nvSpPr>
        <p:spPr>
          <a:xfrm>
            <a:off x="685800" y="609600"/>
            <a:ext cx="108204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50">
                <a:solidFill>
                  <a:srgbClr val="F2F5FA"/>
                </a:solidFill>
                <a:latin typeface="Arial"/>
                <a:ea typeface="Arial"/>
                <a:cs typeface="Arial"/>
                <a:sym typeface="Arial"/>
              </a:rPr>
              <a:t>Xuất kết quả review</a:t>
            </a:r>
            <a:endParaRPr/>
          </a:p>
        </p:txBody>
      </p:sp>
      <p:sp>
        <p:nvSpPr>
          <p:cNvPr id="217" name="Google Shape;217;p19"/>
          <p:cNvSpPr/>
          <p:nvPr/>
        </p:nvSpPr>
        <p:spPr>
          <a:xfrm>
            <a:off x="685800" y="1200150"/>
            <a:ext cx="10820400"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 name="Google Shape;218;p19"/>
          <p:cNvSpPr/>
          <p:nvPr/>
        </p:nvSpPr>
        <p:spPr>
          <a:xfrm>
            <a:off x="676275" y="1400175"/>
            <a:ext cx="10839450" cy="4781550"/>
          </a:xfrm>
          <a:prstGeom prst="roundRect">
            <a:avLst>
              <a:gd fmla="val 1594" name="adj"/>
            </a:avLst>
          </a:prstGeom>
          <a:solidFill>
            <a:srgbClr val="111925"/>
          </a:solidFill>
          <a:ln cap="flat" cmpd="sng" w="9525">
            <a:solidFill>
              <a:srgbClr val="2A39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19" name="Google Shape;219;p19"/>
          <p:cNvPicPr preferRelativeResize="0"/>
          <p:nvPr/>
        </p:nvPicPr>
        <p:blipFill rotWithShape="1">
          <a:blip r:embed="rId3">
            <a:alphaModFix/>
          </a:blip>
          <a:srcRect b="0" l="0" r="0" t="0"/>
          <a:stretch/>
        </p:blipFill>
        <p:spPr>
          <a:xfrm>
            <a:off x="1069419" y="1485900"/>
            <a:ext cx="10053161" cy="4610100"/>
          </a:xfrm>
          <a:prstGeom prst="rect">
            <a:avLst/>
          </a:prstGeom>
          <a:noFill/>
          <a:ln>
            <a:noFill/>
          </a:ln>
        </p:spPr>
      </p:pic>
      <p:sp>
        <p:nvSpPr>
          <p:cNvPr id="220" name="Google Shape;220;p19"/>
          <p:cNvSpPr/>
          <p:nvPr/>
        </p:nvSpPr>
        <p:spPr>
          <a:xfrm>
            <a:off x="723900" y="6305550"/>
            <a:ext cx="107442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A9B6C8"/>
                </a:solidFill>
                <a:latin typeface="Arial"/>
                <a:ea typeface="Arial"/>
                <a:cs typeface="Arial"/>
                <a:sym typeface="Arial"/>
              </a:rPr>
              <a:t>Tải báo cáo, issue register và tạo bản nháp guideline.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6"/>
        </a:solidFill>
      </p:bgPr>
    </p:bg>
    <p:spTree>
      <p:nvGrpSpPr>
        <p:cNvPr id="225" name="Shape 225"/>
        <p:cNvGrpSpPr/>
        <p:nvPr/>
      </p:nvGrpSpPr>
      <p:grpSpPr>
        <a:xfrm>
          <a:off x="0" y="0"/>
          <a:ext cx="0" cy="0"/>
          <a:chOff x="0" y="0"/>
          <a:chExt cx="0" cy="0"/>
        </a:xfrm>
      </p:grpSpPr>
      <p:sp>
        <p:nvSpPr>
          <p:cNvPr id="226" name="Google Shape;226;p20"/>
          <p:cNvSpPr/>
          <p:nvPr/>
        </p:nvSpPr>
        <p:spPr>
          <a:xfrm>
            <a:off x="685800" y="304800"/>
            <a:ext cx="3810000" cy="2095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43D6B2"/>
                </a:solidFill>
                <a:latin typeface="Arial"/>
                <a:ea typeface="Arial"/>
                <a:cs typeface="Arial"/>
                <a:sym typeface="Arial"/>
              </a:rPr>
              <a:t>QC MINI  /  DEMO</a:t>
            </a:r>
            <a:endParaRPr/>
          </a:p>
        </p:txBody>
      </p:sp>
      <p:sp>
        <p:nvSpPr>
          <p:cNvPr id="227" name="Google Shape;227;p20"/>
          <p:cNvSpPr/>
          <p:nvPr/>
        </p:nvSpPr>
        <p:spPr>
          <a:xfrm>
            <a:off x="685800" y="609600"/>
            <a:ext cx="10820400" cy="552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50">
                <a:solidFill>
                  <a:srgbClr val="F2F5FA"/>
                </a:solidFill>
                <a:latin typeface="Arial"/>
                <a:ea typeface="Arial"/>
                <a:cs typeface="Arial"/>
                <a:sym typeface="Arial"/>
              </a:rPr>
              <a:t>Review annotation trong CVAT</a:t>
            </a:r>
            <a:endParaRPr/>
          </a:p>
        </p:txBody>
      </p:sp>
      <p:sp>
        <p:nvSpPr>
          <p:cNvPr id="228" name="Google Shape;228;p20"/>
          <p:cNvSpPr/>
          <p:nvPr/>
        </p:nvSpPr>
        <p:spPr>
          <a:xfrm>
            <a:off x="685800" y="1200150"/>
            <a:ext cx="10820400" cy="19050"/>
          </a:xfrm>
          <a:prstGeom prst="rect">
            <a:avLst/>
          </a:prstGeom>
          <a:solidFill>
            <a:srgbClr val="2A39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9" name="Google Shape;229;p20"/>
          <p:cNvSpPr/>
          <p:nvPr/>
        </p:nvSpPr>
        <p:spPr>
          <a:xfrm>
            <a:off x="676275" y="1400175"/>
            <a:ext cx="10839450" cy="4781550"/>
          </a:xfrm>
          <a:prstGeom prst="roundRect">
            <a:avLst>
              <a:gd fmla="val 1594" name="adj"/>
            </a:avLst>
          </a:prstGeom>
          <a:solidFill>
            <a:srgbClr val="111925"/>
          </a:solidFill>
          <a:ln cap="flat" cmpd="sng" w="9525">
            <a:solidFill>
              <a:srgbClr val="2A39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30" name="Google Shape;230;p20"/>
          <p:cNvPicPr preferRelativeResize="0"/>
          <p:nvPr/>
        </p:nvPicPr>
        <p:blipFill rotWithShape="1">
          <a:blip r:embed="rId3">
            <a:alphaModFix/>
          </a:blip>
          <a:srcRect b="0" l="0" r="0" t="0"/>
          <a:stretch/>
        </p:blipFill>
        <p:spPr>
          <a:xfrm>
            <a:off x="2062163" y="1485900"/>
            <a:ext cx="8067675" cy="4610100"/>
          </a:xfrm>
          <a:prstGeom prst="rect">
            <a:avLst/>
          </a:prstGeom>
          <a:noFill/>
          <a:ln>
            <a:noFill/>
          </a:ln>
        </p:spPr>
      </p:pic>
      <p:sp>
        <p:nvSpPr>
          <p:cNvPr id="231" name="Google Shape;231;p20"/>
          <p:cNvSpPr/>
          <p:nvPr/>
        </p:nvSpPr>
        <p:spPr>
          <a:xfrm>
            <a:off x="723900" y="6305550"/>
            <a:ext cx="107442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350">
                <a:solidFill>
                  <a:srgbClr val="A9B6C8"/>
                </a:solidFill>
                <a:latin typeface="Arial"/>
                <a:ea typeface="Arial"/>
                <a:cs typeface="Arial"/>
                <a:sym typeface="Arial"/>
              </a:rPr>
              <a:t>Mở frame trên CVAT để kiểm tra box và chỉnh sửa annotation.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6"/>
        </a:solidFill>
      </p:bgPr>
    </p:bg>
    <p:spTree>
      <p:nvGrpSpPr>
        <p:cNvPr id="236" name="Shape 236"/>
        <p:cNvGrpSpPr/>
        <p:nvPr/>
      </p:nvGrpSpPr>
      <p:grpSpPr>
        <a:xfrm>
          <a:off x="0" y="0"/>
          <a:ext cx="0" cy="0"/>
          <a:chOff x="0" y="0"/>
          <a:chExt cx="0" cy="0"/>
        </a:xfrm>
      </p:grpSpPr>
      <p:sp>
        <p:nvSpPr>
          <p:cNvPr id="237" name="Google Shape;237;p21"/>
          <p:cNvSpPr/>
          <p:nvPr/>
        </p:nvSpPr>
        <p:spPr>
          <a:xfrm>
            <a:off x="0" y="0"/>
            <a:ext cx="133350" cy="6858000"/>
          </a:xfrm>
          <a:prstGeom prst="rect">
            <a:avLst/>
          </a:prstGeom>
          <a:solidFill>
            <a:srgbClr val="43D6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8" name="Google Shape;238;p21"/>
          <p:cNvSpPr/>
          <p:nvPr/>
        </p:nvSpPr>
        <p:spPr>
          <a:xfrm>
            <a:off x="742950" y="2124075"/>
            <a:ext cx="10096500" cy="781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200">
                <a:solidFill>
                  <a:srgbClr val="F2F5FA"/>
                </a:solidFill>
                <a:latin typeface="Arial"/>
                <a:ea typeface="Arial"/>
                <a:cs typeface="Arial"/>
                <a:sym typeface="Arial"/>
              </a:rPr>
              <a:t>Cảm ơn mọi người đã lắng nghe!</a:t>
            </a:r>
            <a:endParaRPr/>
          </a:p>
        </p:txBody>
      </p:sp>
      <p:sp>
        <p:nvSpPr>
          <p:cNvPr id="239" name="Google Shape;239;p21"/>
          <p:cNvSpPr/>
          <p:nvPr/>
        </p:nvSpPr>
        <p:spPr>
          <a:xfrm>
            <a:off x="781050" y="3067050"/>
            <a:ext cx="428625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325">
                <a:solidFill>
                  <a:srgbClr val="8B78FF"/>
                </a:solidFill>
                <a:latin typeface="Arial"/>
                <a:ea typeface="Arial"/>
                <a:cs typeface="Arial"/>
                <a:sym typeface="Arial"/>
              </a:rPr>
              <a:t>QC mini</a:t>
            </a:r>
            <a:endParaRPr/>
          </a:p>
        </p:txBody>
      </p:sp>
      <p:sp>
        <p:nvSpPr>
          <p:cNvPr id="240" name="Google Shape;240;p21"/>
          <p:cNvSpPr/>
          <p:nvPr/>
        </p:nvSpPr>
        <p:spPr>
          <a:xfrm>
            <a:off x="781050" y="3657600"/>
            <a:ext cx="9525000" cy="495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75">
                <a:solidFill>
                  <a:srgbClr val="A9B6C8"/>
                </a:solidFill>
                <a:latin typeface="Arial"/>
                <a:ea typeface="Arial"/>
                <a:cs typeface="Arial"/>
                <a:sym typeface="Arial"/>
              </a:rPr>
              <a:t>AI hỗ trợ phân tích. Reviewer xác nhận kết quả.</a:t>
            </a:r>
            <a:endParaRPr/>
          </a:p>
        </p:txBody>
      </p:sp>
      <p:sp>
        <p:nvSpPr>
          <p:cNvPr id="241" name="Google Shape;241;p21"/>
          <p:cNvSpPr/>
          <p:nvPr/>
        </p:nvSpPr>
        <p:spPr>
          <a:xfrm>
            <a:off x="781050" y="4572000"/>
            <a:ext cx="1200150" cy="47625"/>
          </a:xfrm>
          <a:prstGeom prst="rect">
            <a:avLst/>
          </a:prstGeom>
          <a:solidFill>
            <a:srgbClr val="8B7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2" name="Google Shape;242;p21"/>
          <p:cNvSpPr/>
          <p:nvPr/>
        </p:nvSpPr>
        <p:spPr>
          <a:xfrm>
            <a:off x="781050" y="4914900"/>
            <a:ext cx="2857500" cy="400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50">
                <a:solidFill>
                  <a:srgbClr val="43D6B2"/>
                </a:solidFill>
                <a:latin typeface="Arial"/>
                <a:ea typeface="Arial"/>
                <a:cs typeface="Arial"/>
                <a:sym typeface="Arial"/>
              </a:rPr>
              <a:t>Hỏi đáp</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